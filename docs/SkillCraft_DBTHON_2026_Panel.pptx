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one sentence: SkillCraft is a local-work marketplace whose main strength is the database record behind each job. Introduce the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old approach first: informal messages do not create a dependable sequence. Then state the target users and SDG 8 connection. Do not claim proven earnings gains.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Ramesh and Lakshmi as the concrete example. Emphasize that accepting a bid creates exactly one contract and that paid status for a new contract needs both sides.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actual role navigation in the live prototype. Ramesh cannot use artisan bid actions; Lakshmi cannot post jobs or inspect someone else's bids.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React is the visible website. Express is the server API. PostgreSQL is the relational database that joins records and enforces integrity. PGlite is the local preview database, not a separate product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USERS, then GIG_POSTINGS, GIG_APPLICATIONS, COMPLETION_CONTRACTS, and finally RATINGS_REVIEWS plus CONTRACT_EVENTS. The accepted-bid trigger creates the contract; there is no direct bid-to-contract foreign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of the strongest demonstrations is two attempts to accept different bids on the same job. Exactly one succeeds. Do not attribute the result to a single mechanism; the lock, transaction, trigger and unique constraint work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main novelty story. Acknowledgments are assertions by users, not bank verification. Explain why old paid rows are labelled legacy: the migration refuses to invent an artisan confirmation.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prior without jargon: one perfect review should not immediately make a new artisan look perfect. The stored score is recalculated by a database trigger after a real eligible review. This is a design choice, not a validated fairness guarantee.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search screen to show a match label. Say the ranking is transparent, not AI. Explain row-level security in ordinary words: the database itself filters rows based on the signed-in user's identity.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present test counts as a speed-up. These tests show behavior and integrity. Native PostgreSQL query-plan and ranking-quality comparisons are still planned.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every rubric criterion to one visible artifact. State that these are maximum marks allocated by the challenge PDF, not an estimated grade.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last two criteria are easy to overstate. Describe SDG alignment as an intention; describe TRL as a working prototype rather than a deployed or field-tested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Prepare a fresh job before the demo and use its distinctive description to search. Avoid posting a new bid on a previously bid job. Both accounts use password123 in the local seeded preview.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restating the database contribution. Invite questions. If asked about payment, distinguish acknowledgment from real bank verification. If asked about performance, explain the planned benchmark rather than inventing a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82127" y="0"/>
            <a:ext cx="4309567" cy="6858000"/>
          </a:xfrm>
          <a:prstGeom prst="rect">
            <a:avLst/>
          </a:prstGeom>
          <a:solidFill>
            <a:srgbClr val="E4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548640"/>
            <a:ext cx="694944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426A54"/>
                </a:solidFill>
                <a:latin typeface="Aptos"/>
              </a:defRPr>
            </a:pPr>
            <a:r>
              <a:t>DBTHON 2026  /  DATABASE SYSTEMS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25880"/>
            <a:ext cx="6583680" cy="8229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4600" b="1">
                <a:solidFill>
                  <a:srgbClr val="20362E"/>
                </a:solidFill>
                <a:latin typeface="Aptos"/>
              </a:defRPr>
            </a:pPr>
            <a:r>
              <a:t>SkillCraft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2286000"/>
            <a:ext cx="6766560" cy="6583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2700" b="0">
                <a:solidFill>
                  <a:srgbClr val="20362E"/>
                </a:solidFill>
                <a:latin typeface="Georgia"/>
              </a:defRPr>
            </a:pPr>
            <a:r>
              <a:t>Local work, with a reliable record.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" y="3273552"/>
            <a:ext cx="6355080" cy="9144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5B6F63"/>
                </a:solidFill>
                <a:latin typeface="Aptos"/>
              </a:defRPr>
            </a:pPr>
            <a:r>
              <a:t>Employers post jobs. Artisans bid. The database keeps every decision, agreement and review connected.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" y="4800600"/>
            <a:ext cx="2011680" cy="310896"/>
          </a:xfrm>
          <a:prstGeom prst="roundRect">
            <a:avLst>
              <a:gd name="adj" fmla="val 6000"/>
            </a:avLst>
          </a:prstGeom>
          <a:solidFill>
            <a:srgbClr val="E4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7" y="4841748"/>
            <a:ext cx="1865376" cy="2286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426A54"/>
                </a:solidFill>
                <a:latin typeface="Aptos"/>
              </a:defRPr>
            </a:pPr>
            <a:r>
              <a:t>WORKING 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5715000"/>
            <a:ext cx="6583680" cy="3200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20362E"/>
                </a:solidFill>
                <a:latin typeface="Aptos"/>
              </a:defRPr>
            </a:pPr>
            <a:r>
              <a:t>Vedika Agarwal  ·  Bhavyaveer Kumar  ·  Anuj Deshpande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6080760"/>
            <a:ext cx="594360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B6F63"/>
                </a:solidFill>
                <a:latin typeface="Aptos"/>
              </a:defRPr>
            </a:pPr>
            <a:r>
              <a:t>Faculty guide: Siva Sankari  ·  2026–27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188720"/>
            <a:ext cx="3355848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380744"/>
            <a:ext cx="457200" cy="3840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426A5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79992" y="1408176"/>
            <a:ext cx="2240280" cy="53035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20362E"/>
                </a:solidFill>
                <a:latin typeface="Aptos"/>
              </a:defRPr>
            </a:pPr>
            <a:r>
              <a:t>A job is posted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2496312"/>
            <a:ext cx="3355848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2688336"/>
            <a:ext cx="457200" cy="3840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426A5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2715768"/>
            <a:ext cx="2240280" cy="53035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20362E"/>
                </a:solidFill>
                <a:latin typeface="Aptos"/>
              </a:defRPr>
            </a:pPr>
            <a:r>
              <a:t>An artisan is selected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3803904"/>
            <a:ext cx="3355848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3995928"/>
            <a:ext cx="457200" cy="3840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426A5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9992" y="4023360"/>
            <a:ext cx="2240280" cy="53035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20362E"/>
                </a:solidFill>
                <a:latin typeface="Aptos"/>
              </a:defRPr>
            </a:pPr>
            <a:r>
              <a:t>A contract records the outcome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937760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426A54"/>
                </a:solidFill>
                <a:latin typeface="Aptos"/>
              </a:defRPr>
            </a:pPr>
            <a:r>
              <a:t>SKILLCRAFT  /  DBTHON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56032"/>
            <a:ext cx="2496312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5B6F63"/>
                </a:solidFill>
                <a:latin typeface="Aptos"/>
              </a:defRPr>
            </a:pPr>
            <a:r>
              <a:t>PROBLEM + DOMAIN · 4 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064240" cy="53035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20362E"/>
                </a:solidFill>
                <a:latin typeface="Aptos"/>
              </a:defRPr>
            </a:pPr>
            <a:r>
              <a:t>The problem is missing work 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234440"/>
            <a:ext cx="1097280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B6F63"/>
                </a:solidFill>
                <a:latin typeface="Aptos"/>
              </a:defRPr>
            </a:pPr>
            <a:r>
              <a:t>Small jobs often live in calls and chat messages; decisions are hard to trace later.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501384"/>
            <a:ext cx="11183112" cy="0"/>
          </a:xfrm>
          <a:prstGeom prst="line">
            <a:avLst/>
          </a:prstGeom>
          <a:ln w="12700">
            <a:solidFill>
              <a:srgbClr val="CDD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12064" y="6556248"/>
            <a:ext cx="6400800" cy="1828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B6F63"/>
                </a:solidFill>
                <a:latin typeface="Aptos"/>
              </a:defRPr>
            </a:pPr>
            <a:r>
              <a:t>SkillCraft  •  database systems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82528" y="6547104"/>
            <a:ext cx="548640" cy="1828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5B6F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92807"/>
            <a:ext cx="3447288" cy="2834640"/>
          </a:xfrm>
          <a:prstGeom prst="roundRect">
            <a:avLst>
              <a:gd name="adj" fmla="val 6000"/>
            </a:avLst>
          </a:prstGeom>
          <a:solidFill>
            <a:srgbClr val="EEE7DE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92807"/>
            <a:ext cx="64008" cy="2834640"/>
          </a:xfrm>
          <a:prstGeom prst="rect">
            <a:avLst/>
          </a:prstGeom>
          <a:solidFill>
            <a:srgbClr val="A86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066543"/>
            <a:ext cx="2990088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20362E"/>
                </a:solidFill>
                <a:latin typeface="Aptos"/>
              </a:defRPr>
            </a:pPr>
            <a:r>
              <a:t>Today: scattered messages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532887"/>
            <a:ext cx="2971800" cy="21031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5B6F63"/>
                </a:solidFill>
                <a:latin typeface="Aptos"/>
              </a:defRPr>
            </a:pPr>
            <a:r>
              <a:t>Who applied? Which price was accepted? Was payment acknowledged? The answers can be buried or disputed.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892807"/>
            <a:ext cx="3447288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0832" y="1892807"/>
            <a:ext cx="64008" cy="2834640"/>
          </a:xfrm>
          <a:prstGeom prst="rect">
            <a:avLst/>
          </a:prstGeom>
          <a:solidFill>
            <a:srgbClr val="426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8576" y="2066543"/>
            <a:ext cx="2990088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20362E"/>
                </a:solidFill>
                <a:latin typeface="Aptos"/>
              </a:defRPr>
            </a:pPr>
            <a:r>
              <a:t>SkillCraft: linked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2532887"/>
            <a:ext cx="2971800" cy="21031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5B6F63"/>
                </a:solidFill>
                <a:latin typeface="Aptos"/>
              </a:defRPr>
            </a:pPr>
            <a:r>
              <a:t>The original job, every bid, the chosen artisan, the contract and the later review stay connected.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02168" y="1892807"/>
            <a:ext cx="3447288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02168" y="1892807"/>
            <a:ext cx="64008" cy="2834640"/>
          </a:xfrm>
          <a:prstGeom prst="rect">
            <a:avLst/>
          </a:prstGeom>
          <a:solidFill>
            <a:srgbClr val="426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9912" y="2066543"/>
            <a:ext cx="2990088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20362E"/>
                </a:solidFill>
                <a:latin typeface="Aptos"/>
              </a:defRPr>
            </a:pPr>
            <a:r>
              <a:t>Who it serves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2" y="2532887"/>
            <a:ext cx="2971800" cy="21031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5B6F63"/>
                </a:solidFill>
                <a:latin typeface="Aptos"/>
              </a:defRPr>
            </a:pPr>
            <a:r>
              <a:t>Local artisans seeking visible opportunities, and employers comparing offers for short projects.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157216"/>
            <a:ext cx="2496312" cy="310896"/>
          </a:xfrm>
          <a:prstGeom prst="roundRect">
            <a:avLst>
              <a:gd name="adj" fmla="val 6000"/>
            </a:avLst>
          </a:prstGeom>
          <a:solidFill>
            <a:srgbClr val="E4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198364"/>
            <a:ext cx="2350008" cy="2286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426A54"/>
                </a:solidFill>
                <a:latin typeface="Aptos"/>
              </a:defRPr>
            </a:pPr>
            <a:r>
              <a:t>DOMAIN: LOCAL EMPLOYMENT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28416" y="5074920"/>
            <a:ext cx="7818120" cy="66751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5B6F63"/>
                </a:solidFill>
                <a:latin typeface="Aptos"/>
              </a:defRPr>
            </a:pPr>
            <a:r>
              <a:t>SDG 8 alignment: access to decent work and a portable work record. Economic impact is a goal, not a measured result yet.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937760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426A54"/>
                </a:solidFill>
                <a:latin typeface="Aptos"/>
              </a:defRPr>
            </a:pPr>
            <a:r>
              <a:t>SKILLCRAFT  /  DBTHON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56032"/>
            <a:ext cx="2496312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5B6F63"/>
                </a:solidFill>
                <a:latin typeface="Aptos"/>
              </a:defRPr>
            </a:pPr>
            <a:r>
              <a:t>WORKING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064240" cy="53035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20362E"/>
                </a:solidFill>
                <a:latin typeface="Aptos"/>
              </a:defRPr>
            </a:pPr>
            <a:r>
              <a:t>One job becomes one traceable agreement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234440"/>
            <a:ext cx="1097280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B6F63"/>
                </a:solidFill>
                <a:latin typeface="Aptos"/>
              </a:defRPr>
            </a:pPr>
            <a:r>
              <a:t>The same workflow is visible from two different accounts.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501384"/>
            <a:ext cx="11183112" cy="0"/>
          </a:xfrm>
          <a:prstGeom prst="line">
            <a:avLst/>
          </a:prstGeom>
          <a:ln w="12700">
            <a:solidFill>
              <a:srgbClr val="CDD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12064" y="6556248"/>
            <a:ext cx="6400800" cy="1828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B6F63"/>
                </a:solidFill>
                <a:latin typeface="Aptos"/>
              </a:defRPr>
            </a:pPr>
            <a:r>
              <a:t>SkillCraft  •  database systems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82528" y="6547104"/>
            <a:ext cx="548640" cy="1828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5B6F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47088"/>
            <a:ext cx="3493008" cy="1673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847088"/>
            <a:ext cx="64008" cy="1673352"/>
          </a:xfrm>
          <a:prstGeom prst="rect">
            <a:avLst/>
          </a:prstGeom>
          <a:solidFill>
            <a:srgbClr val="426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020824"/>
            <a:ext cx="3035808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20362E"/>
                </a:solidFill>
                <a:latin typeface="Aptos"/>
              </a:defRPr>
            </a:pPr>
            <a:r>
              <a:t>1  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487168"/>
            <a:ext cx="3017520" cy="9418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B6F63"/>
                </a:solidFill>
                <a:latin typeface="Aptos"/>
              </a:defRPr>
            </a:pPr>
            <a:r>
              <a:t>Employer adds a brief, location and budget.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847088"/>
            <a:ext cx="3493008" cy="1673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1847088"/>
            <a:ext cx="64008" cy="1673352"/>
          </a:xfrm>
          <a:prstGeom prst="rect">
            <a:avLst/>
          </a:prstGeom>
          <a:solidFill>
            <a:srgbClr val="426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2584" y="2020824"/>
            <a:ext cx="3035808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20362E"/>
                </a:solidFill>
                <a:latin typeface="Aptos"/>
              </a:defRPr>
            </a:pPr>
            <a:r>
              <a:t>2  DISCOVER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2584" y="2487168"/>
            <a:ext cx="3017520" cy="9418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B6F63"/>
                </a:solidFill>
                <a:latin typeface="Aptos"/>
              </a:defRPr>
            </a:pPr>
            <a:r>
              <a:t>Artisan searches by skill and place.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02752" y="1847088"/>
            <a:ext cx="3493008" cy="1673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02752" y="1847088"/>
            <a:ext cx="64008" cy="1673352"/>
          </a:xfrm>
          <a:prstGeom prst="rect">
            <a:avLst/>
          </a:prstGeom>
          <a:solidFill>
            <a:srgbClr val="426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0496" y="2020824"/>
            <a:ext cx="3035808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20362E"/>
                </a:solidFill>
                <a:latin typeface="Aptos"/>
              </a:defRPr>
            </a:pPr>
            <a:r>
              <a:t>3  BID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0496" y="2487168"/>
            <a:ext cx="3017520" cy="9418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B6F63"/>
                </a:solidFill>
                <a:latin typeface="Aptos"/>
              </a:defRPr>
            </a:pPr>
            <a:r>
              <a:t>Artisan offers a price and optional note.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77056"/>
            <a:ext cx="3493008" cy="1673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877056"/>
            <a:ext cx="64008" cy="1673352"/>
          </a:xfrm>
          <a:prstGeom prst="rect">
            <a:avLst/>
          </a:prstGeom>
          <a:solidFill>
            <a:srgbClr val="A86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4050792"/>
            <a:ext cx="3035808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20362E"/>
                </a:solidFill>
                <a:latin typeface="Aptos"/>
              </a:defRPr>
            </a:pPr>
            <a:r>
              <a:t>4  SELECT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4517136"/>
            <a:ext cx="3017520" cy="9418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B6F63"/>
                </a:solidFill>
                <a:latin typeface="Aptos"/>
              </a:defRPr>
            </a:pPr>
            <a:r>
              <a:t>Employer accepts one bid; other bids close.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3877056"/>
            <a:ext cx="3493008" cy="1673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34840" y="3877056"/>
            <a:ext cx="64008" cy="1673352"/>
          </a:xfrm>
          <a:prstGeom prst="rect">
            <a:avLst/>
          </a:prstGeom>
          <a:solidFill>
            <a:srgbClr val="A86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72584" y="4050792"/>
            <a:ext cx="3035808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20362E"/>
                </a:solidFill>
                <a:latin typeface="Aptos"/>
              </a:defRPr>
            </a:pPr>
            <a:r>
              <a:t>5  ACKNOWLEDGE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72584" y="4517136"/>
            <a:ext cx="3017520" cy="9418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B6F63"/>
                </a:solidFill>
                <a:latin typeface="Aptos"/>
              </a:defRPr>
            </a:pPr>
            <a:r>
              <a:t>Employer records payment sent; artisan confirms receipt.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02752" y="3877056"/>
            <a:ext cx="3493008" cy="1673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02752" y="3877056"/>
            <a:ext cx="64008" cy="1673352"/>
          </a:xfrm>
          <a:prstGeom prst="rect">
            <a:avLst/>
          </a:prstGeom>
          <a:solidFill>
            <a:srgbClr val="426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0496" y="4050792"/>
            <a:ext cx="3035808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20362E"/>
                </a:solidFill>
                <a:latin typeface="Aptos"/>
              </a:defRPr>
            </a:pPr>
            <a:r>
              <a:t>6 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0496" y="4517136"/>
            <a:ext cx="3017520" cy="9418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B6F63"/>
                </a:solidFill>
                <a:latin typeface="Aptos"/>
              </a:defRPr>
            </a:pPr>
            <a:r>
              <a:t>Paid contract receives a review and updates trust score.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937760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426A54"/>
                </a:solidFill>
                <a:latin typeface="Aptos"/>
              </a:defRPr>
            </a:pPr>
            <a:r>
              <a:t>SKILLCRAFT  /  DBTHON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56032"/>
            <a:ext cx="2496312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5B6F63"/>
                </a:solidFill>
                <a:latin typeface="Aptos"/>
              </a:defRPr>
            </a:pPr>
            <a:r>
              <a:t>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064240" cy="53035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20362E"/>
                </a:solidFill>
                <a:latin typeface="Aptos"/>
              </a:defRPr>
            </a:pPr>
            <a:r>
              <a:t>Each account sees the work relevant to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234440"/>
            <a:ext cx="1097280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B6F63"/>
                </a:solidFill>
                <a:latin typeface="Aptos"/>
              </a:defRPr>
            </a:pPr>
            <a:r>
              <a:t>The roles share the same underlying job and contract, but their menus and actions differ.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501384"/>
            <a:ext cx="11183112" cy="0"/>
          </a:xfrm>
          <a:prstGeom prst="line">
            <a:avLst/>
          </a:prstGeom>
          <a:ln w="12700">
            <a:solidFill>
              <a:srgbClr val="CDD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12064" y="6556248"/>
            <a:ext cx="6400800" cy="1828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B6F63"/>
                </a:solidFill>
                <a:latin typeface="Aptos"/>
              </a:defRPr>
            </a:pPr>
            <a:r>
              <a:t>SkillCraft  •  database systems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82528" y="6547104"/>
            <a:ext cx="548640" cy="1828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5B6F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56231"/>
            <a:ext cx="5266944" cy="3337560"/>
          </a:xfrm>
          <a:prstGeom prst="roundRect">
            <a:avLst>
              <a:gd name="adj" fmla="val 6000"/>
            </a:avLst>
          </a:prstGeom>
          <a:solidFill>
            <a:srgbClr val="EEE7DE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56231"/>
            <a:ext cx="64008" cy="3337560"/>
          </a:xfrm>
          <a:prstGeom prst="rect">
            <a:avLst/>
          </a:prstGeom>
          <a:solidFill>
            <a:srgbClr val="A86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29967"/>
            <a:ext cx="4809744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20362E"/>
                </a:solidFill>
                <a:latin typeface="Aptos"/>
              </a:defRPr>
            </a:pPr>
            <a:r>
              <a:t>EMPLOYER  /  RAMESH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496311"/>
            <a:ext cx="4791456" cy="2606039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5B6F63"/>
                </a:solidFill>
                <a:latin typeface="Aptos"/>
              </a:defRPr>
            </a:pPr>
            <a:r>
              <a:t>Hiring overview</a:t>
            </a:r>
          </a:p>
          <a:p>
            <a:pPr>
              <a:spcAft>
                <a:spcPts val="0"/>
              </a:spcAft>
              <a:defRPr sz="1700" b="0">
                <a:solidFill>
                  <a:srgbClr val="5B6F63"/>
                </a:solidFill>
                <a:latin typeface="Aptos"/>
              </a:defRPr>
            </a:pPr>
            <a:r>
              <a:t>Post a job and inspect bids</a:t>
            </a:r>
          </a:p>
          <a:p>
            <a:pPr>
              <a:spcAft>
                <a:spcPts val="0"/>
              </a:spcAft>
              <a:defRPr sz="1700" b="0">
                <a:solidFill>
                  <a:srgbClr val="5B6F63"/>
                </a:solidFill>
                <a:latin typeface="Aptos"/>
              </a:defRPr>
            </a:pPr>
            <a:r>
              <a:t>Accept or decline an offer</a:t>
            </a:r>
          </a:p>
          <a:p>
            <a:pPr>
              <a:spcAft>
                <a:spcPts val="0"/>
              </a:spcAft>
              <a:defRPr sz="1700" b="0">
                <a:solidFill>
                  <a:srgbClr val="5B6F63"/>
                </a:solidFill>
                <a:latin typeface="Aptos"/>
              </a:defRPr>
            </a:pPr>
            <a:r>
              <a:t>Record payment sent</a:t>
            </a:r>
          </a:p>
          <a:p>
            <a:pPr>
              <a:spcAft>
                <a:spcPts val="0"/>
              </a:spcAft>
              <a:defRPr sz="1700" b="0">
                <a:solidFill>
                  <a:srgbClr val="5B6F63"/>
                </a:solidFill>
                <a:latin typeface="Aptos"/>
              </a:defRPr>
            </a:pPr>
            <a:r>
              <a:t>Review a paid contract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1928" y="1856231"/>
            <a:ext cx="5266944" cy="3337560"/>
          </a:xfrm>
          <a:prstGeom prst="roundRect">
            <a:avLst>
              <a:gd name="adj" fmla="val 6000"/>
            </a:avLst>
          </a:prstGeom>
          <a:solidFill>
            <a:srgbClr val="E4ECE4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81928" y="1856231"/>
            <a:ext cx="64008" cy="3337560"/>
          </a:xfrm>
          <a:prstGeom prst="rect">
            <a:avLst/>
          </a:prstGeom>
          <a:solidFill>
            <a:srgbClr val="426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2029967"/>
            <a:ext cx="4809744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20362E"/>
                </a:solidFill>
                <a:latin typeface="Aptos"/>
              </a:defRPr>
            </a:pPr>
            <a:r>
              <a:t>ARTISAN  /  LAKSHMI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496311"/>
            <a:ext cx="4791456" cy="2606039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5B6F63"/>
                </a:solidFill>
                <a:latin typeface="Aptos"/>
              </a:defRPr>
            </a:pPr>
            <a:r>
              <a:t>My workspace</a:t>
            </a:r>
          </a:p>
          <a:p>
            <a:pPr>
              <a:spcAft>
                <a:spcPts val="0"/>
              </a:spcAft>
              <a:defRPr sz="1700" b="0">
                <a:solidFill>
                  <a:srgbClr val="5B6F63"/>
                </a:solidFill>
                <a:latin typeface="Aptos"/>
              </a:defRPr>
            </a:pPr>
            <a:r>
              <a:t>Find work and submit a bid</a:t>
            </a:r>
          </a:p>
          <a:p>
            <a:pPr>
              <a:spcAft>
                <a:spcPts val="0"/>
              </a:spcAft>
              <a:defRPr sz="1700" b="0">
                <a:solidFill>
                  <a:srgbClr val="5B6F63"/>
                </a:solidFill>
                <a:latin typeface="Aptos"/>
              </a:defRPr>
            </a:pPr>
            <a:r>
              <a:t>Track bid status</a:t>
            </a:r>
          </a:p>
          <a:p>
            <a:pPr>
              <a:spcAft>
                <a:spcPts val="0"/>
              </a:spcAft>
              <a:defRPr sz="1700" b="0">
                <a:solidFill>
                  <a:srgbClr val="5B6F63"/>
                </a:solidFill>
                <a:latin typeface="Aptos"/>
              </a:defRPr>
            </a:pPr>
            <a:r>
              <a:t>Confirm payment received</a:t>
            </a:r>
          </a:p>
          <a:p>
            <a:pPr>
              <a:spcAft>
                <a:spcPts val="0"/>
              </a:spcAft>
              <a:defRPr sz="1700" b="0">
                <a:solidFill>
                  <a:srgbClr val="5B6F63"/>
                </a:solidFill>
                <a:latin typeface="Aptos"/>
              </a:defRPr>
            </a:pPr>
            <a:r>
              <a:t>See agreements and reviews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5623560"/>
            <a:ext cx="10469880" cy="4297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5B6F63"/>
                </a:solidFill>
                <a:latin typeface="Aptos"/>
              </a:defRPr>
            </a:pPr>
            <a:r>
              <a:t>The API also checks the role and ownership; the database applies row-level rules for private bids, contracts and events.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937760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426A54"/>
                </a:solidFill>
                <a:latin typeface="Aptos"/>
              </a:defRPr>
            </a:pPr>
            <a:r>
              <a:t>SKILLCRAFT  /  DBTHON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56032"/>
            <a:ext cx="2496312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5B6F63"/>
                </a:solidFill>
                <a:latin typeface="Aptos"/>
              </a:defRPr>
            </a:pPr>
            <a:r>
              <a:t>DBMS IMPLEMENTATION · 5 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064240" cy="53035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20362E"/>
                </a:solidFill>
                <a:latin typeface="Aptos"/>
              </a:defRPr>
            </a:pPr>
            <a:r>
              <a:t>The database does the critical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234440"/>
            <a:ext cx="1097280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B6F63"/>
                </a:solidFill>
                <a:latin typeface="Aptos"/>
              </a:defRPr>
            </a:pPr>
            <a:r>
              <a:t>A plain-language map of the technology stack.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501384"/>
            <a:ext cx="11183112" cy="0"/>
          </a:xfrm>
          <a:prstGeom prst="line">
            <a:avLst/>
          </a:prstGeom>
          <a:ln w="12700">
            <a:solidFill>
              <a:srgbClr val="CDD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12064" y="6556248"/>
            <a:ext cx="6400800" cy="1828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B6F63"/>
                </a:solidFill>
                <a:latin typeface="Aptos"/>
              </a:defRPr>
            </a:pPr>
            <a:r>
              <a:t>SkillCraft  •  database systems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82528" y="6547104"/>
            <a:ext cx="548640" cy="1828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5B6F6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21992"/>
            <a:ext cx="3145536" cy="2112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587752"/>
            <a:ext cx="2724912" cy="4572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0362E"/>
                </a:solidFill>
                <a:latin typeface="Aptos"/>
              </a:defRPr>
            </a:pPr>
            <a:r>
              <a:t>React + Vite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264408"/>
            <a:ext cx="2734056" cy="6126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spcAft>
                <a:spcPts val="0"/>
              </a:spcAft>
              <a:defRPr sz="1700" b="0">
                <a:solidFill>
                  <a:srgbClr val="5B6F63"/>
                </a:solidFill>
                <a:latin typeface="Aptos"/>
              </a:defRPr>
            </a:pPr>
            <a:r>
              <a:t>Website pages and forms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35424" y="2221992"/>
            <a:ext cx="3145536" cy="2112264"/>
          </a:xfrm>
          <a:prstGeom prst="roundRect">
            <a:avLst>
              <a:gd name="adj" fmla="val 6000"/>
            </a:avLst>
          </a:prstGeom>
          <a:solidFill>
            <a:srgbClr val="EEE7DE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64024" y="2587752"/>
            <a:ext cx="2724912" cy="4572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0362E"/>
                </a:solidFill>
                <a:latin typeface="Aptos"/>
              </a:defRPr>
            </a:pPr>
            <a:r>
              <a:t>Express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264408"/>
            <a:ext cx="2734056" cy="6126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spcAft>
                <a:spcPts val="0"/>
              </a:spcAft>
              <a:defRPr sz="1700" b="0">
                <a:solidFill>
                  <a:srgbClr val="5B6F63"/>
                </a:solidFill>
                <a:latin typeface="Aptos"/>
              </a:defRPr>
            </a:pPr>
            <a:r>
              <a:t>Login and request checks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57616" y="2221992"/>
            <a:ext cx="3145536" cy="2112264"/>
          </a:xfrm>
          <a:prstGeom prst="roundRect">
            <a:avLst>
              <a:gd name="adj" fmla="val 6000"/>
            </a:avLst>
          </a:prstGeom>
          <a:solidFill>
            <a:srgbClr val="E4ECE4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86216" y="2587752"/>
            <a:ext cx="2724912" cy="4572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0362E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7072" y="3264408"/>
            <a:ext cx="2734056" cy="6126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spcAft>
                <a:spcPts val="0"/>
              </a:spcAft>
              <a:defRPr sz="1700" b="0">
                <a:solidFill>
                  <a:srgbClr val="5B6F63"/>
                </a:solidFill>
                <a:latin typeface="Aptos"/>
              </a:defRPr>
            </a:pPr>
            <a:r>
              <a:t>Records, rules and queries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5072" y="2852928"/>
            <a:ext cx="420624" cy="51206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426A5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2852928"/>
            <a:ext cx="420624" cy="51206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426A5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4773168"/>
            <a:ext cx="9829800" cy="7406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72184" y="4992624"/>
            <a:ext cx="9272016" cy="3108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5B6F63"/>
                </a:solidFill>
                <a:latin typeface="Aptos"/>
              </a:defRPr>
            </a:pPr>
            <a:r>
              <a:t>Local preview: PGlite runs the PostgreSQL-compatible schema. Docker configuration uses PostgreSQL 15.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killcraft-er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1440"/>
            <a:ext cx="12006072" cy="6675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937760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426A54"/>
                </a:solidFill>
                <a:latin typeface="Aptos"/>
              </a:defRPr>
            </a:pPr>
            <a:r>
              <a:t>SKILLCRAFT  /  DBTHON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56032"/>
            <a:ext cx="2496312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5B6F63"/>
                </a:solidFill>
                <a:latin typeface="Aptos"/>
              </a:defRPr>
            </a:pPr>
            <a:r>
              <a:t>TECHNICAL DEPTH · 5 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064240" cy="53035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20362E"/>
                </a:solidFill>
                <a:latin typeface="Aptos"/>
              </a:defRPr>
            </a:pPr>
            <a:r>
              <a:t>Rules protect the data when people act at once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234440"/>
            <a:ext cx="1097280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B6F63"/>
                </a:solidFill>
                <a:latin typeface="Aptos"/>
              </a:defRPr>
            </a:pPr>
            <a:r>
              <a:t>These protections are in SQL and transactions, not only in button logic.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501384"/>
            <a:ext cx="11183112" cy="0"/>
          </a:xfrm>
          <a:prstGeom prst="line">
            <a:avLst/>
          </a:prstGeom>
          <a:ln w="12700">
            <a:solidFill>
              <a:srgbClr val="CDD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12064" y="6556248"/>
            <a:ext cx="6400800" cy="1828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B6F63"/>
                </a:solidFill>
                <a:latin typeface="Aptos"/>
              </a:defRPr>
            </a:pPr>
            <a:r>
              <a:t>SkillCraft  •  database systems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82528" y="6547104"/>
            <a:ext cx="548640" cy="1828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5B6F63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" y="1837943"/>
            <a:ext cx="5413248" cy="15910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5216" y="1837943"/>
            <a:ext cx="64008" cy="1591056"/>
          </a:xfrm>
          <a:prstGeom prst="rect">
            <a:avLst/>
          </a:prstGeom>
          <a:solidFill>
            <a:srgbClr val="426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011679"/>
            <a:ext cx="4956048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20362E"/>
                </a:solidFill>
                <a:latin typeface="Aptos"/>
              </a:defRPr>
            </a:pPr>
            <a:r>
              <a:t>Keys + checks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478024"/>
            <a:ext cx="4937760" cy="8595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5B6F63"/>
                </a:solidFill>
                <a:latin typeface="Aptos"/>
              </a:defRPr>
            </a:pPr>
            <a:r>
              <a:t>One bid per artisan per job; one contract per job; positive amounts; valid statuses.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837943"/>
            <a:ext cx="5413248" cy="15910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837943"/>
            <a:ext cx="64008" cy="1591056"/>
          </a:xfrm>
          <a:prstGeom prst="rect">
            <a:avLst/>
          </a:prstGeom>
          <a:solidFill>
            <a:srgbClr val="426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2011679"/>
            <a:ext cx="4956048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20362E"/>
                </a:solidFill>
                <a:latin typeface="Aptos"/>
              </a:defRPr>
            </a:pPr>
            <a:r>
              <a:t>Safe acceptance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478024"/>
            <a:ext cx="4937760" cy="8595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5B6F63"/>
                </a:solidFill>
                <a:latin typeface="Aptos"/>
              </a:defRPr>
            </a:pPr>
            <a:r>
              <a:t>A transaction locks the job row. Accepting one bid closes the job and rejects competitors.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" y="3767328"/>
            <a:ext cx="5413248" cy="15910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5216" y="3767328"/>
            <a:ext cx="64008" cy="1591056"/>
          </a:xfrm>
          <a:prstGeom prst="rect">
            <a:avLst/>
          </a:prstGeom>
          <a:solidFill>
            <a:srgbClr val="426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941064"/>
            <a:ext cx="4956048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20362E"/>
                </a:solidFill>
                <a:latin typeface="Aptos"/>
              </a:defRPr>
            </a:pPr>
            <a:r>
              <a:t>Triggers + functions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407408"/>
            <a:ext cx="4937760" cy="8595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5B6F63"/>
                </a:solidFill>
                <a:latin typeface="Aptos"/>
              </a:defRPr>
            </a:pPr>
            <a:r>
              <a:t>Contract creation, event history and trust-score refresh happen in the database.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767328"/>
            <a:ext cx="5413248" cy="15910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767328"/>
            <a:ext cx="64008" cy="1591056"/>
          </a:xfrm>
          <a:prstGeom prst="rect">
            <a:avLst/>
          </a:prstGeom>
          <a:solidFill>
            <a:srgbClr val="426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941064"/>
            <a:ext cx="4956048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20362E"/>
                </a:solidFill>
                <a:latin typeface="Aptos"/>
              </a:defRPr>
            </a:pPr>
            <a:r>
              <a:t>Two confirmations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407408"/>
            <a:ext cx="4937760" cy="8595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5B6F63"/>
                </a:solidFill>
                <a:latin typeface="Aptos"/>
              </a:defRPr>
            </a:pPr>
            <a:r>
              <a:t>A new contract cannot be marked paid until payment-sent and receipt timestamps both exist.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937760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426A54"/>
                </a:solidFill>
                <a:latin typeface="Aptos"/>
              </a:defRPr>
            </a:pPr>
            <a:r>
              <a:t>SKILLCRAFT  /  DBTHON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56032"/>
            <a:ext cx="2496312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5B6F63"/>
                </a:solidFill>
                <a:latin typeface="Aptos"/>
              </a:defRPr>
            </a:pPr>
            <a:r>
              <a:t>INNOVATION 4 + NOVELTY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064240" cy="53035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20362E"/>
                </a:solidFill>
                <a:latin typeface="Aptos"/>
              </a:defRPr>
            </a:pPr>
            <a:r>
              <a:t>The innovation is a verifiable sequence of claims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234440"/>
            <a:ext cx="1097280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B6F63"/>
                </a:solidFill>
                <a:latin typeface="Aptos"/>
              </a:defRPr>
            </a:pPr>
            <a:r>
              <a:t>Conventional status flags say 'paid'; SkillCraft records who said what and when.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501384"/>
            <a:ext cx="11183112" cy="0"/>
          </a:xfrm>
          <a:prstGeom prst="line">
            <a:avLst/>
          </a:prstGeom>
          <a:ln w="12700">
            <a:solidFill>
              <a:srgbClr val="CDD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12064" y="6556248"/>
            <a:ext cx="6400800" cy="1828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B6F63"/>
                </a:solidFill>
                <a:latin typeface="Aptos"/>
              </a:defRPr>
            </a:pPr>
            <a:r>
              <a:t>SkillCraft  •  database systems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82528" y="6547104"/>
            <a:ext cx="548640" cy="1828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5B6F63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5010912" cy="2862072"/>
          </a:xfrm>
          <a:prstGeom prst="roundRect">
            <a:avLst>
              <a:gd name="adj" fmla="val 6000"/>
            </a:avLst>
          </a:prstGeom>
          <a:solidFill>
            <a:srgbClr val="EEE7DE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84831"/>
            <a:ext cx="4370832" cy="32918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A86948"/>
                </a:solidFill>
                <a:latin typeface="Aptos"/>
              </a:defRPr>
            </a:pPr>
            <a:r>
              <a:t>CONVENTIONAL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33472"/>
            <a:ext cx="4443984" cy="10058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20362E"/>
                </a:solidFill>
                <a:latin typeface="Aptos"/>
              </a:defRPr>
            </a:pPr>
            <a:r>
              <a:t>Employer flips one</a:t>
            </a:r>
          </a:p>
          <a:p>
            <a:pPr>
              <a:spcAft>
                <a:spcPts val="0"/>
              </a:spcAft>
              <a:defRPr sz="2500" b="1">
                <a:solidFill>
                  <a:srgbClr val="20362E"/>
                </a:solidFill>
                <a:latin typeface="Aptos"/>
              </a:defRPr>
            </a:pPr>
            <a:r>
              <a:t>payment flag to paid.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68496"/>
            <a:ext cx="4389120" cy="4297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5B6F63"/>
                </a:solidFill>
                <a:latin typeface="Aptos"/>
              </a:defRPr>
            </a:pPr>
            <a:r>
              <a:t>The worker's acknowledgment is missing.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1828800"/>
            <a:ext cx="5010912" cy="2862072"/>
          </a:xfrm>
          <a:prstGeom prst="roundRect">
            <a:avLst>
              <a:gd name="adj" fmla="val 6000"/>
            </a:avLst>
          </a:prstGeom>
          <a:solidFill>
            <a:srgbClr val="E4ECE4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4848" y="2084831"/>
            <a:ext cx="4370832" cy="32918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426A54"/>
                </a:solidFill>
                <a:latin typeface="Aptos"/>
              </a:defRPr>
            </a:pPr>
            <a:r>
              <a:t>SKILLCRAFT NOW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2633472"/>
            <a:ext cx="4443984" cy="10058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20362E"/>
                </a:solidFill>
                <a:latin typeface="Aptos"/>
              </a:defRPr>
            </a:pPr>
            <a:r>
              <a:t>Employer records sent.</a:t>
            </a:r>
          </a:p>
          <a:p>
            <a:pPr>
              <a:spcAft>
                <a:spcPts val="0"/>
              </a:spcAft>
              <a:defRPr sz="2500" b="1">
                <a:solidFill>
                  <a:srgbClr val="20362E"/>
                </a:solidFill>
                <a:latin typeface="Aptos"/>
              </a:defRPr>
            </a:pPr>
            <a:r>
              <a:t>Artisan confirms received.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4848" y="3968496"/>
            <a:ext cx="4389120" cy="4297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5B6F63"/>
                </a:solidFill>
                <a:latin typeface="Aptos"/>
              </a:defRPr>
            </a:pPr>
            <a:r>
              <a:t>An append-only history records each event.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175504"/>
            <a:ext cx="10287000" cy="6858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spcAft>
                <a:spcPts val="0"/>
              </a:spcAft>
              <a:defRPr sz="1700" b="0">
                <a:solidFill>
                  <a:srgbClr val="5B6F63"/>
                </a:solidFill>
                <a:latin typeface="Aptos"/>
              </a:defRPr>
            </a:pPr>
            <a:r>
              <a:t>A review is allowed only after a new contract is paid. Older paid rows remain visibly legacy, not falsely backfilled.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937760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426A54"/>
                </a:solidFill>
                <a:latin typeface="Aptos"/>
              </a:defRPr>
            </a:pPr>
            <a:r>
              <a:t>SKILLCRAFT  /  DBTHON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56032"/>
            <a:ext cx="2496312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5B6F63"/>
                </a:solidFill>
                <a:latin typeface="Aptos"/>
              </a:defRPr>
            </a:pPr>
            <a:r>
              <a:t>DATABASE FUNCTION + TRIGGER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064240" cy="53035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20362E"/>
                </a:solidFill>
                <a:latin typeface="Aptos"/>
              </a:defRPr>
            </a:pPr>
            <a:r>
              <a:t>A review updates a careful trust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234440"/>
            <a:ext cx="1097280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B6F63"/>
                </a:solidFill>
                <a:latin typeface="Aptos"/>
              </a:defRPr>
            </a:pPr>
            <a:r>
              <a:t>Only a paid contract can receive a review. A trigger refreshes the artisan's stored score.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501384"/>
            <a:ext cx="11183112" cy="0"/>
          </a:xfrm>
          <a:prstGeom prst="line">
            <a:avLst/>
          </a:prstGeom>
          <a:ln w="12700">
            <a:solidFill>
              <a:srgbClr val="CDD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12064" y="6556248"/>
            <a:ext cx="6400800" cy="1828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B6F63"/>
                </a:solidFill>
                <a:latin typeface="Aptos"/>
              </a:defRPr>
            </a:pPr>
            <a:r>
              <a:t>SkillCraft  •  database systems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82528" y="6547104"/>
            <a:ext cx="548640" cy="1828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5B6F63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56231"/>
            <a:ext cx="10817352" cy="1975104"/>
          </a:xfrm>
          <a:prstGeom prst="roundRect">
            <a:avLst>
              <a:gd name="adj" fmla="val 6000"/>
            </a:avLst>
          </a:prstGeom>
          <a:solidFill>
            <a:srgbClr val="E4ECE4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130552"/>
            <a:ext cx="4572000" cy="3200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426A54"/>
                </a:solidFill>
                <a:latin typeface="Aptos"/>
              </a:defRPr>
            </a:pPr>
            <a:r>
              <a:t>ONE NEW 5-STAR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670048"/>
            <a:ext cx="10140696" cy="64922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spcAft>
                <a:spcPts val="0"/>
              </a:spcAft>
              <a:defRPr sz="2900" b="1">
                <a:solidFill>
                  <a:srgbClr val="20362E"/>
                </a:solidFill>
                <a:latin typeface="Aptos"/>
              </a:defRPr>
            </a:pPr>
            <a:r>
              <a:t>(5 + 3 × 3.5) ÷ (1 + 3)  =  3.88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4224528"/>
            <a:ext cx="3401568" cy="1307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4224528"/>
            <a:ext cx="64008" cy="1307592"/>
          </a:xfrm>
          <a:prstGeom prst="rect">
            <a:avLst/>
          </a:prstGeom>
          <a:solidFill>
            <a:srgbClr val="426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4398264"/>
            <a:ext cx="2944368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20362E"/>
                </a:solidFill>
                <a:latin typeface="Aptos"/>
              </a:defRPr>
            </a:pPr>
            <a:r>
              <a:t>ELIGIBLE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4864608"/>
            <a:ext cx="2926080" cy="5760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B6F63"/>
                </a:solidFill>
                <a:latin typeface="Aptos"/>
              </a:defRPr>
            </a:pPr>
            <a:r>
              <a:t>Reviews tied to paid contracts.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98264" y="4224528"/>
            <a:ext cx="3401568" cy="1307592"/>
          </a:xfrm>
          <a:prstGeom prst="roundRect">
            <a:avLst>
              <a:gd name="adj" fmla="val 6000"/>
            </a:avLst>
          </a:prstGeom>
          <a:solidFill>
            <a:srgbClr val="EEE7DE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98264" y="4224528"/>
            <a:ext cx="64008" cy="1307592"/>
          </a:xfrm>
          <a:prstGeom prst="rect">
            <a:avLst/>
          </a:prstGeom>
          <a:solidFill>
            <a:srgbClr val="A86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007" y="4398264"/>
            <a:ext cx="2944368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20362E"/>
                </a:solidFill>
                <a:latin typeface="Aptos"/>
              </a:defRPr>
            </a:pPr>
            <a:r>
              <a:t>STABILIZING PRIOR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7" y="4864608"/>
            <a:ext cx="2926080" cy="5760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B6F63"/>
                </a:solidFill>
                <a:latin typeface="Aptos"/>
              </a:defRPr>
            </a:pPr>
            <a:r>
              <a:t>Three virtual 3.5-star reviews.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83296" y="4224528"/>
            <a:ext cx="3401568" cy="1307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83296" y="4224528"/>
            <a:ext cx="64008" cy="1307592"/>
          </a:xfrm>
          <a:prstGeom prst="rect">
            <a:avLst/>
          </a:prstGeom>
          <a:solidFill>
            <a:srgbClr val="426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4398264"/>
            <a:ext cx="2944368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20362E"/>
                </a:solidFill>
                <a:latin typeface="Aptos"/>
              </a:defRPr>
            </a:pPr>
            <a:r>
              <a:t>AUTOMATIC UPDATE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864608"/>
            <a:ext cx="2926080" cy="5760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B6F63"/>
                </a:solidFill>
                <a:latin typeface="Aptos"/>
              </a:defRPr>
            </a:pPr>
            <a:r>
              <a:t>Review insert runs the score function.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937760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426A54"/>
                </a:solidFill>
                <a:latin typeface="Aptos"/>
              </a:defRPr>
            </a:pPr>
            <a:r>
              <a:t>SKILLCRAFT  /  DBTHON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56032"/>
            <a:ext cx="2496312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5B6F63"/>
                </a:solidFill>
                <a:latin typeface="Aptos"/>
              </a:defRPr>
            </a:pPr>
            <a:r>
              <a:t>IMPLEMENTATION + DIFFERENTIATION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064240" cy="53035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20362E"/>
                </a:solidFill>
                <a:latin typeface="Aptos"/>
              </a:defRPr>
            </a:pPr>
            <a:r>
              <a:t>Matching and privacy are database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234440"/>
            <a:ext cx="1097280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B6F63"/>
                </a:solidFill>
                <a:latin typeface="Aptos"/>
              </a:defRPr>
            </a:pPr>
            <a:r>
              <a:t>The discovery screens are backed by indexed queries and restricted database access.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501384"/>
            <a:ext cx="11183112" cy="0"/>
          </a:xfrm>
          <a:prstGeom prst="line">
            <a:avLst/>
          </a:prstGeom>
          <a:ln w="12700">
            <a:solidFill>
              <a:srgbClr val="CDD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12064" y="6556248"/>
            <a:ext cx="6400800" cy="1828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B6F63"/>
                </a:solidFill>
                <a:latin typeface="Aptos"/>
              </a:defRPr>
            </a:pPr>
            <a:r>
              <a:t>SkillCraft  •  database systems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82528" y="6547104"/>
            <a:ext cx="548640" cy="1828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5B6F63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" y="1874519"/>
            <a:ext cx="3447288" cy="3136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7512" y="1874519"/>
            <a:ext cx="64008" cy="3136392"/>
          </a:xfrm>
          <a:prstGeom prst="rect">
            <a:avLst/>
          </a:prstGeom>
          <a:solidFill>
            <a:srgbClr val="426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048255"/>
            <a:ext cx="2990088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20362E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514600"/>
            <a:ext cx="2971800" cy="24048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5B6F63"/>
                </a:solidFill>
                <a:latin typeface="Aptos"/>
              </a:defRPr>
            </a:pPr>
            <a:r>
              <a:t>Jobs and artisans can be filtered by skill and searched by place or keyword. B-tree and full-text indexes support those queries.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874519"/>
            <a:ext cx="3447288" cy="3136392"/>
          </a:xfrm>
          <a:prstGeom prst="roundRect">
            <a:avLst>
              <a:gd name="adj" fmla="val 6000"/>
            </a:avLst>
          </a:prstGeom>
          <a:solidFill>
            <a:srgbClr val="EEE7DE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0832" y="1874519"/>
            <a:ext cx="64008" cy="3136392"/>
          </a:xfrm>
          <a:prstGeom prst="rect">
            <a:avLst/>
          </a:prstGeom>
          <a:solidFill>
            <a:srgbClr val="A86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8576" y="2048255"/>
            <a:ext cx="2990088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20362E"/>
                </a:solidFill>
                <a:latin typeface="Aptos"/>
              </a:defRPr>
            </a:pPr>
            <a:r>
              <a:t>EXPLAINABLE 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2514600"/>
            <a:ext cx="2971800" cy="24048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5B6F63"/>
                </a:solidFill>
                <a:latin typeface="Aptos"/>
              </a:defRPr>
            </a:pPr>
            <a:r>
              <a:t>A simple 0–3 score prefers the same skill (2 points) and same city (1 point). It is inspectable, not an AI prediction.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1874519"/>
            <a:ext cx="3447288" cy="3136392"/>
          </a:xfrm>
          <a:prstGeom prst="roundRect">
            <a:avLst>
              <a:gd name="adj" fmla="val 6000"/>
            </a:avLst>
          </a:prstGeom>
          <a:solidFill>
            <a:srgbClr val="E4ECE4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3296" y="1874519"/>
            <a:ext cx="64008" cy="3136392"/>
          </a:xfrm>
          <a:prstGeom prst="rect">
            <a:avLst/>
          </a:prstGeom>
          <a:solidFill>
            <a:srgbClr val="426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048255"/>
            <a:ext cx="2990088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20362E"/>
                </a:solidFill>
                <a:latin typeface="Aptos"/>
              </a:defRPr>
            </a:pPr>
            <a:r>
              <a:t>ROW 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514600"/>
            <a:ext cx="2971800" cy="24048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5B6F63"/>
                </a:solidFill>
                <a:latin typeface="Aptos"/>
              </a:defRPr>
            </a:pPr>
            <a:r>
              <a:t>A restricted database role and row-level policies limit access to a person's private bids, contracts and events.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5486400"/>
            <a:ext cx="1024128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spcAft>
                <a:spcPts val="0"/>
              </a:spcAft>
              <a:defRPr sz="1700" b="0">
                <a:solidFill>
                  <a:srgbClr val="5B6F63"/>
                </a:solidFill>
                <a:latin typeface="Aptos"/>
              </a:defRPr>
            </a:pPr>
            <a:r>
              <a:t>Public artisan reputation appears through limited views; private account fields stay private.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937760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426A54"/>
                </a:solidFill>
                <a:latin typeface="Aptos"/>
              </a:defRPr>
            </a:pPr>
            <a:r>
              <a:t>SKILLCRAFT  /  DBTHON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56032"/>
            <a:ext cx="2496312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5B6F63"/>
                </a:solidFill>
                <a:latin typeface="Aptos"/>
              </a:defRPr>
            </a:pPr>
            <a:r>
              <a:t>VALIDATION · 3 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064240" cy="53035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20362E"/>
                </a:solidFill>
                <a:latin typeface="Aptos"/>
              </a:defRPr>
            </a:pPr>
            <a:r>
              <a:t>What we have actually validated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234440"/>
            <a:ext cx="1097280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B6F63"/>
                </a:solidFill>
                <a:latin typeface="Aptos"/>
              </a:defRPr>
            </a:pPr>
            <a:r>
              <a:t>Functional evidence is strong; performance and social impact still need measurement.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501384"/>
            <a:ext cx="11183112" cy="0"/>
          </a:xfrm>
          <a:prstGeom prst="line">
            <a:avLst/>
          </a:prstGeom>
          <a:ln w="12700">
            <a:solidFill>
              <a:srgbClr val="CDD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12064" y="6556248"/>
            <a:ext cx="6400800" cy="1828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B6F63"/>
                </a:solidFill>
                <a:latin typeface="Aptos"/>
              </a:defRPr>
            </a:pPr>
            <a:r>
              <a:t>SkillCraft  •  database systems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82528" y="6547104"/>
            <a:ext cx="548640" cy="1828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5B6F63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37943"/>
            <a:ext cx="3438144" cy="2688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837943"/>
            <a:ext cx="64008" cy="2688336"/>
          </a:xfrm>
          <a:prstGeom prst="rect">
            <a:avLst/>
          </a:prstGeom>
          <a:solidFill>
            <a:srgbClr val="426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011679"/>
            <a:ext cx="2980944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20362E"/>
                </a:solidFill>
                <a:latin typeface="Aptos"/>
              </a:defRPr>
            </a:pPr>
            <a:r>
              <a:t>API + SCHEMA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478024"/>
            <a:ext cx="2962656" cy="1956815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5B6F63"/>
                </a:solidFill>
                <a:latin typeface="Aptos"/>
              </a:defRPr>
            </a:pPr>
            <a:r>
              <a:t>Checks the full job-to-review flow, foreign-key relationships, audit immutability, and ownership rules.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837943"/>
            <a:ext cx="3438144" cy="2688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0832" y="1837943"/>
            <a:ext cx="64008" cy="2688336"/>
          </a:xfrm>
          <a:prstGeom prst="rect">
            <a:avLst/>
          </a:prstGeom>
          <a:solidFill>
            <a:srgbClr val="426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8576" y="2011679"/>
            <a:ext cx="2980944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20362E"/>
                </a:solidFill>
                <a:latin typeface="Aptos"/>
              </a:defRPr>
            </a:pPr>
            <a:r>
              <a:t>24 JEST CASES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2478024"/>
            <a:ext cx="2962656" cy="1956815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5B6F63"/>
                </a:solidFill>
                <a:latin typeface="Aptos"/>
              </a:defRPr>
            </a:pPr>
            <a:r>
              <a:t>20 CRUD cases plus 4 concurrency and integrity cases passed on fresh local PGlite databases.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1837943"/>
            <a:ext cx="3438144" cy="2688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3296" y="1837943"/>
            <a:ext cx="64008" cy="2688336"/>
          </a:xfrm>
          <a:prstGeom prst="rect">
            <a:avLst/>
          </a:prstGeom>
          <a:solidFill>
            <a:srgbClr val="426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011679"/>
            <a:ext cx="2980944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20362E"/>
                </a:solidFill>
                <a:latin typeface="Aptos"/>
              </a:defRPr>
            </a:pPr>
            <a:r>
              <a:t>2 BROWSER FLOWS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478024"/>
            <a:ext cx="2962656" cy="1956815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5B6F63"/>
                </a:solidFill>
                <a:latin typeface="Aptos"/>
              </a:defRPr>
            </a:pPr>
            <a:r>
              <a:t>The two-role payment journey and long-text mobile layout passed in Edge.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15568" y="4983480"/>
            <a:ext cx="9957816" cy="758952"/>
          </a:xfrm>
          <a:prstGeom prst="roundRect">
            <a:avLst>
              <a:gd name="adj" fmla="val 6000"/>
            </a:avLst>
          </a:prstGeom>
          <a:solidFill>
            <a:srgbClr val="EEE7DE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99032" y="5166360"/>
            <a:ext cx="9390888" cy="3840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0362E"/>
                </a:solidFill>
                <a:latin typeface="Aptos"/>
              </a:defRPr>
            </a:pPr>
            <a:r>
              <a:t>Next evidence: benchmark indexed search vs. a baseline on native PostgreSQL; measure fit quality with labeled examples.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937760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426A54"/>
                </a:solidFill>
                <a:latin typeface="Aptos"/>
              </a:defRPr>
            </a:pPr>
            <a:r>
              <a:t>SKILLCRAFT  /  DBTHON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56032"/>
            <a:ext cx="2496312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5B6F63"/>
                </a:solidFill>
                <a:latin typeface="Aptos"/>
              </a:defRPr>
            </a:pPr>
            <a:r>
              <a:t>RUBRIC / 30 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064240" cy="53035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20362E"/>
                </a:solidFill>
                <a:latin typeface="Aptos"/>
              </a:defRPr>
            </a:pPr>
            <a:r>
              <a:t>What the panel grades ·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234440"/>
            <a:ext cx="1097280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B6F63"/>
                </a:solidFill>
                <a:latin typeface="Aptos"/>
              </a:defRPr>
            </a:pPr>
            <a:r>
              <a:t>The numbers are available marks, not a score awarded to this project.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501384"/>
            <a:ext cx="11183112" cy="0"/>
          </a:xfrm>
          <a:prstGeom prst="line">
            <a:avLst/>
          </a:prstGeom>
          <a:ln w="12700">
            <a:solidFill>
              <a:srgbClr val="CDD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12064" y="6556248"/>
            <a:ext cx="6400800" cy="1828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B6F63"/>
                </a:solidFill>
                <a:latin typeface="Aptos"/>
              </a:defRPr>
            </a:pPr>
            <a:r>
              <a:t>SkillCraft  •  database systems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82528" y="6547104"/>
            <a:ext cx="548640" cy="1828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5B6F63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73936"/>
            <a:ext cx="10799064" cy="877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1938528"/>
            <a:ext cx="612648" cy="521207"/>
          </a:xfrm>
          <a:prstGeom prst="roundRect">
            <a:avLst>
              <a:gd name="adj" fmla="val 6000"/>
            </a:avLst>
          </a:prstGeom>
          <a:solidFill>
            <a:srgbClr val="E4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2029967"/>
            <a:ext cx="374904" cy="28346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426A54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1929384"/>
            <a:ext cx="2752344" cy="3840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20362E"/>
                </a:solidFill>
                <a:latin typeface="Aptos"/>
              </a:defRPr>
            </a:pPr>
            <a:r>
              <a:t>Problem + domain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1929384"/>
            <a:ext cx="6428232" cy="5760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B6F63"/>
                </a:solidFill>
                <a:latin typeface="Aptos"/>
              </a:defRPr>
            </a:pPr>
            <a:r>
              <a:t>Informal local hiring lacks a reliable, portable record.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" y="2834639"/>
            <a:ext cx="10799064" cy="877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2999232"/>
            <a:ext cx="612648" cy="521207"/>
          </a:xfrm>
          <a:prstGeom prst="roundRect">
            <a:avLst>
              <a:gd name="adj" fmla="val 6000"/>
            </a:avLst>
          </a:prstGeom>
          <a:solidFill>
            <a:srgbClr val="E4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3090672"/>
            <a:ext cx="374904" cy="28346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426A54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10512" y="2990087"/>
            <a:ext cx="2752344" cy="3840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20362E"/>
                </a:solidFill>
                <a:latin typeface="Aptos"/>
              </a:defRPr>
            </a:pPr>
            <a:r>
              <a:t>Database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0872" y="2990087"/>
            <a:ext cx="6428232" cy="5760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B6F63"/>
                </a:solidFill>
                <a:latin typeface="Aptos"/>
              </a:defRPr>
            </a:pPr>
            <a:r>
              <a:t>Seven linked tables, ER diagram, keys, constraints and normalization.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" y="3895344"/>
            <a:ext cx="10799064" cy="877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4059935"/>
            <a:ext cx="612648" cy="521207"/>
          </a:xfrm>
          <a:prstGeom prst="roundRect">
            <a:avLst>
              <a:gd name="adj" fmla="val 6000"/>
            </a:avLst>
          </a:prstGeom>
          <a:solidFill>
            <a:srgbClr val="E4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1" y="4151376"/>
            <a:ext cx="374904" cy="28346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426A54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10512" y="4050791"/>
            <a:ext cx="2752344" cy="3840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20362E"/>
                </a:solidFill>
                <a:latin typeface="Aptos"/>
              </a:defRPr>
            </a:pPr>
            <a:r>
              <a:t>DBMS depth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0872" y="4050791"/>
            <a:ext cx="6428232" cy="5760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B6F63"/>
                </a:solidFill>
                <a:latin typeface="Aptos"/>
              </a:defRPr>
            </a:pPr>
            <a:r>
              <a:t>Transactions, triggers, functions, indexes, views and row-level security.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944" y="4956048"/>
            <a:ext cx="10799064" cy="877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4400" y="5120640"/>
            <a:ext cx="612648" cy="521207"/>
          </a:xfrm>
          <a:prstGeom prst="roundRect">
            <a:avLst>
              <a:gd name="adj" fmla="val 6000"/>
            </a:avLst>
          </a:prstGeom>
          <a:solidFill>
            <a:srgbClr val="E4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3271" y="5212080"/>
            <a:ext cx="374904" cy="28346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426A54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10512" y="5111496"/>
            <a:ext cx="2752344" cy="3840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20362E"/>
                </a:solidFill>
                <a:latin typeface="Aptos"/>
              </a:defRPr>
            </a:pPr>
            <a:r>
              <a:t>Innovation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0872" y="5111496"/>
            <a:ext cx="6428232" cy="5760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B6F63"/>
                </a:solidFill>
                <a:latin typeface="Aptos"/>
              </a:defRPr>
            </a:pPr>
            <a:r>
              <a:t>Two-party acknowledgment plus append-only contract events.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937760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426A54"/>
                </a:solidFill>
                <a:latin typeface="Aptos"/>
              </a:defRPr>
            </a:pPr>
            <a:r>
              <a:t>SKILLCRAFT  /  DBTHON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56032"/>
            <a:ext cx="2496312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5B6F63"/>
                </a:solidFill>
                <a:latin typeface="Aptos"/>
              </a:defRPr>
            </a:pPr>
            <a:r>
              <a:t>RUBRIC / 30 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064240" cy="53035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20362E"/>
                </a:solidFill>
                <a:latin typeface="Aptos"/>
              </a:defRPr>
            </a:pPr>
            <a:r>
              <a:t>What the panel grades · 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234440"/>
            <a:ext cx="1097280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B6F63"/>
                </a:solidFill>
                <a:latin typeface="Aptos"/>
              </a:defRPr>
            </a:pPr>
            <a:r>
              <a:t>The claim and the evidence should stay at the same level.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501384"/>
            <a:ext cx="11183112" cy="0"/>
          </a:xfrm>
          <a:prstGeom prst="line">
            <a:avLst/>
          </a:prstGeom>
          <a:ln w="12700">
            <a:solidFill>
              <a:srgbClr val="CDD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12064" y="6556248"/>
            <a:ext cx="6400800" cy="1828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B6F63"/>
                </a:solidFill>
                <a:latin typeface="Aptos"/>
              </a:defRPr>
            </a:pPr>
            <a:r>
              <a:t>SkillCraft  •  database systems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82528" y="6547104"/>
            <a:ext cx="548640" cy="1828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5B6F63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73936"/>
            <a:ext cx="10799064" cy="877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1938528"/>
            <a:ext cx="612648" cy="521207"/>
          </a:xfrm>
          <a:prstGeom prst="roundRect">
            <a:avLst>
              <a:gd name="adj" fmla="val 6000"/>
            </a:avLst>
          </a:prstGeom>
          <a:solidFill>
            <a:srgbClr val="E4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2029967"/>
            <a:ext cx="374904" cy="28346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426A54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1929384"/>
            <a:ext cx="2752344" cy="3840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20362E"/>
                </a:solidFill>
                <a:latin typeface="Aptos"/>
              </a:defRPr>
            </a:pPr>
            <a:r>
              <a:t>Novelty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1929384"/>
            <a:ext cx="6428232" cy="5760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B6F63"/>
                </a:solidFill>
                <a:latin typeface="Aptos"/>
              </a:defRPr>
            </a:pPr>
            <a:r>
              <a:t>Compare with employer-only payment and a plain rating average.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" y="2834639"/>
            <a:ext cx="10799064" cy="877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2999232"/>
            <a:ext cx="612648" cy="521207"/>
          </a:xfrm>
          <a:prstGeom prst="roundRect">
            <a:avLst>
              <a:gd name="adj" fmla="val 6000"/>
            </a:avLst>
          </a:prstGeom>
          <a:solidFill>
            <a:srgbClr val="E4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3090672"/>
            <a:ext cx="374904" cy="28346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426A5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10512" y="2990087"/>
            <a:ext cx="2752344" cy="3840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20362E"/>
                </a:solidFill>
                <a:latin typeface="Aptos"/>
              </a:defRPr>
            </a:pPr>
            <a:r>
              <a:t>SDG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0872" y="2990087"/>
            <a:ext cx="6428232" cy="5760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B6F63"/>
                </a:solidFill>
                <a:latin typeface="Aptos"/>
              </a:defRPr>
            </a:pPr>
            <a:r>
              <a:t>SDG 8 goal: fairer access and a portable history; impact unmeasured.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" y="3895344"/>
            <a:ext cx="10799064" cy="877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4059935"/>
            <a:ext cx="612648" cy="521207"/>
          </a:xfrm>
          <a:prstGeom prst="roundRect">
            <a:avLst>
              <a:gd name="adj" fmla="val 6000"/>
            </a:avLst>
          </a:prstGeom>
          <a:solidFill>
            <a:srgbClr val="E4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1" y="4151376"/>
            <a:ext cx="374904" cy="28346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426A5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10512" y="4050791"/>
            <a:ext cx="2752344" cy="3840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20362E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0872" y="4050791"/>
            <a:ext cx="6428232" cy="5760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B6F63"/>
                </a:solidFill>
                <a:latin typeface="Aptos"/>
              </a:defRPr>
            </a:pPr>
            <a:r>
              <a:t>Show passing tests; be honest that benchmark data is pending.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944" y="4956048"/>
            <a:ext cx="10799064" cy="877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4400" y="5120640"/>
            <a:ext cx="612648" cy="521207"/>
          </a:xfrm>
          <a:prstGeom prst="roundRect">
            <a:avLst>
              <a:gd name="adj" fmla="val 6000"/>
            </a:avLst>
          </a:prstGeom>
          <a:solidFill>
            <a:srgbClr val="E4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3271" y="5212080"/>
            <a:ext cx="374904" cy="28346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426A5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10512" y="5111496"/>
            <a:ext cx="2752344" cy="3840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20362E"/>
                </a:solidFill>
                <a:latin typeface="Aptos"/>
              </a:defRPr>
            </a:pPr>
            <a:r>
              <a:t>TRL + demo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0872" y="5111496"/>
            <a:ext cx="6428232" cy="5760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B6F63"/>
                </a:solidFill>
                <a:latin typeface="Aptos"/>
              </a:defRPr>
            </a:pPr>
            <a:r>
              <a:t>Run the two-account prototype live; no field pilot yet.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937760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426A54"/>
                </a:solidFill>
                <a:latin typeface="Aptos"/>
              </a:defRPr>
            </a:pPr>
            <a:r>
              <a:t>SKILLCRAFT  /  DBTHON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56032"/>
            <a:ext cx="2496312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5B6F63"/>
                </a:solidFill>
                <a:latin typeface="Aptos"/>
              </a:defRPr>
            </a:pPr>
            <a:r>
              <a:t>PANEL RUNBOOK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064240" cy="53035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20362E"/>
                </a:solidFill>
                <a:latin typeface="Aptos"/>
              </a:defRPr>
            </a:pPr>
            <a:r>
              <a:t>A five-minute live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234440"/>
            <a:ext cx="1097280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B6F63"/>
                </a:solidFill>
                <a:latin typeface="Aptos"/>
              </a:defRPr>
            </a:pPr>
            <a:r>
              <a:t>Use the connected local preview, not the browser-only demo mode.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501384"/>
            <a:ext cx="11183112" cy="0"/>
          </a:xfrm>
          <a:prstGeom prst="line">
            <a:avLst/>
          </a:prstGeom>
          <a:ln w="12700">
            <a:solidFill>
              <a:srgbClr val="CDD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12064" y="6556248"/>
            <a:ext cx="6400800" cy="1828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B6F63"/>
                </a:solidFill>
                <a:latin typeface="Aptos"/>
              </a:defRPr>
            </a:pPr>
            <a:r>
              <a:t>SkillCraft  •  database systems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82528" y="6547104"/>
            <a:ext cx="548640" cy="1828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5B6F63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37360"/>
            <a:ext cx="10826496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1883664"/>
            <a:ext cx="320040" cy="32918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426A54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865376"/>
            <a:ext cx="3840480" cy="35661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0362E"/>
                </a:solidFill>
                <a:latin typeface="Aptos"/>
              </a:defRPr>
            </a:pPr>
            <a:r>
              <a:t>Ramesh posts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883664"/>
            <a:ext cx="5458968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B6F63"/>
                </a:solidFill>
                <a:latin typeface="Aptos"/>
              </a:defRPr>
            </a:pPr>
            <a:r>
              <a:t>ramesh@constructionco.in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569464"/>
            <a:ext cx="10826496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2715768"/>
            <a:ext cx="320040" cy="32918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426A5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697480"/>
            <a:ext cx="3840480" cy="35661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0362E"/>
                </a:solidFill>
                <a:latin typeface="Aptos"/>
              </a:defRPr>
            </a:pPr>
            <a:r>
              <a:t>Lakshmi searches + bids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715768"/>
            <a:ext cx="5458968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B6F63"/>
                </a:solidFill>
                <a:latin typeface="Aptos"/>
              </a:defRPr>
            </a:pPr>
            <a:r>
              <a:t>lakshmi@skillcraft.local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401568"/>
            <a:ext cx="10826496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3547872"/>
            <a:ext cx="320040" cy="32918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426A5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529584"/>
            <a:ext cx="3840480" cy="35661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0362E"/>
                </a:solidFill>
                <a:latin typeface="Aptos"/>
              </a:defRPr>
            </a:pPr>
            <a:r>
              <a:t>Ramesh accepts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547872"/>
            <a:ext cx="5458968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B6F63"/>
                </a:solidFill>
                <a:latin typeface="Aptos"/>
              </a:defRPr>
            </a:pPr>
            <a:r>
              <a:t>One job closes; one contract appears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233672"/>
            <a:ext cx="10826496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4379976"/>
            <a:ext cx="320040" cy="32918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426A54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361688"/>
            <a:ext cx="3840480" cy="35661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0362E"/>
                </a:solidFill>
                <a:latin typeface="Aptos"/>
              </a:defRPr>
            </a:pPr>
            <a:r>
              <a:t>Both acknowledge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4379976"/>
            <a:ext cx="5458968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B6F63"/>
                </a:solidFill>
                <a:latin typeface="Aptos"/>
              </a:defRPr>
            </a:pPr>
            <a:r>
              <a:t>Sent → received → paid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065776"/>
            <a:ext cx="10826496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" y="5212080"/>
            <a:ext cx="320040" cy="32918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426A54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193792"/>
            <a:ext cx="3840480" cy="35661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0362E"/>
                </a:solidFill>
                <a:latin typeface="Aptos"/>
              </a:defRPr>
            </a:pPr>
            <a:r>
              <a:t>Ramesh reviews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5212080"/>
            <a:ext cx="5458968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B6F63"/>
                </a:solidFill>
                <a:latin typeface="Aptos"/>
              </a:defRPr>
            </a:pPr>
            <a:r>
              <a:t>Show event history and trust score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6053328"/>
            <a:ext cx="2871216" cy="310896"/>
          </a:xfrm>
          <a:prstGeom prst="roundRect">
            <a:avLst>
              <a:gd name="adj" fmla="val 6000"/>
            </a:avLst>
          </a:prstGeom>
          <a:solidFill>
            <a:srgbClr val="E4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6094476"/>
            <a:ext cx="2724912" cy="2286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426A54"/>
                </a:solidFill>
                <a:latin typeface="Aptos"/>
              </a:defRPr>
            </a:pPr>
            <a:r>
              <a:t>BOTH PASSWORDS: password123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937760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426A54"/>
                </a:solidFill>
                <a:latin typeface="Aptos"/>
              </a:defRPr>
            </a:pPr>
            <a:r>
              <a:t>SKILLCRAFT  /  DBTHON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56032"/>
            <a:ext cx="2496312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5B6F63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064240" cy="53035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20362E"/>
                </a:solidFill>
                <a:latin typeface="Aptos"/>
              </a:defRPr>
            </a:pPr>
            <a:r>
              <a:t>A working prototype with clear next measurements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234440"/>
            <a:ext cx="1097280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B6F63"/>
                </a:solidFill>
                <a:latin typeface="Aptos"/>
              </a:defRPr>
            </a:pPr>
            <a:r>
              <a:t>The database is the product's backbone; our claims stop where the evidence stops.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501384"/>
            <a:ext cx="11183112" cy="0"/>
          </a:xfrm>
          <a:prstGeom prst="line">
            <a:avLst/>
          </a:prstGeom>
          <a:ln w="12700">
            <a:solidFill>
              <a:srgbClr val="CDD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12064" y="6556248"/>
            <a:ext cx="6400800" cy="1828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B6F63"/>
                </a:solidFill>
                <a:latin typeface="Aptos"/>
              </a:defRPr>
            </a:pPr>
            <a:r>
              <a:t>SkillCraft  •  database systems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82528" y="6547104"/>
            <a:ext cx="548640" cy="1828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5B6F63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" y="1901952"/>
            <a:ext cx="5175504" cy="2926080"/>
          </a:xfrm>
          <a:prstGeom prst="roundRect">
            <a:avLst>
              <a:gd name="adj" fmla="val 6000"/>
            </a:avLst>
          </a:prstGeom>
          <a:solidFill>
            <a:srgbClr val="E4ECE4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088" y="1901952"/>
            <a:ext cx="64008" cy="2926080"/>
          </a:xfrm>
          <a:prstGeom prst="rect">
            <a:avLst/>
          </a:prstGeom>
          <a:solidFill>
            <a:srgbClr val="426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075688"/>
            <a:ext cx="4718304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20362E"/>
                </a:solidFill>
                <a:latin typeface="Aptos"/>
              </a:defRPr>
            </a:pPr>
            <a:r>
              <a:t>WHAT WORKS 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542032"/>
            <a:ext cx="4700016" cy="21945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5B6F63"/>
                </a:solidFill>
                <a:latin typeface="Aptos"/>
              </a:defRPr>
            </a:pPr>
            <a:r>
              <a:t>Connected two-role website</a:t>
            </a:r>
          </a:p>
          <a:p>
            <a:pPr>
              <a:spcAft>
                <a:spcPts val="0"/>
              </a:spcAft>
              <a:defRPr sz="1700" b="0">
                <a:solidFill>
                  <a:srgbClr val="5B6F63"/>
                </a:solidFill>
                <a:latin typeface="Aptos"/>
              </a:defRPr>
            </a:pPr>
            <a:r>
              <a:t>Seven-table relational model</a:t>
            </a:r>
          </a:p>
          <a:p>
            <a:pPr>
              <a:spcAft>
                <a:spcPts val="0"/>
              </a:spcAft>
              <a:defRPr sz="1700" b="0">
                <a:solidFill>
                  <a:srgbClr val="5B6F63"/>
                </a:solidFill>
                <a:latin typeface="Aptos"/>
              </a:defRPr>
            </a:pPr>
            <a:r>
              <a:t>One-winner bid acceptance</a:t>
            </a:r>
          </a:p>
          <a:p>
            <a:pPr>
              <a:spcAft>
                <a:spcPts val="0"/>
              </a:spcAft>
              <a:defRPr sz="1700" b="0">
                <a:solidFill>
                  <a:srgbClr val="5B6F63"/>
                </a:solidFill>
                <a:latin typeface="Aptos"/>
              </a:defRPr>
            </a:pPr>
            <a:r>
              <a:t>Two-party payment record</a:t>
            </a:r>
          </a:p>
          <a:p>
            <a:pPr>
              <a:spcAft>
                <a:spcPts val="0"/>
              </a:spcAft>
              <a:defRPr sz="1700" b="0">
                <a:solidFill>
                  <a:srgbClr val="5B6F63"/>
                </a:solidFill>
                <a:latin typeface="Aptos"/>
              </a:defRPr>
            </a:pPr>
            <a:r>
              <a:t>Contract-linked trust and audit history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1901952"/>
            <a:ext cx="5175504" cy="2926080"/>
          </a:xfrm>
          <a:prstGeom prst="roundRect">
            <a:avLst>
              <a:gd name="adj" fmla="val 6000"/>
            </a:avLst>
          </a:prstGeom>
          <a:solidFill>
            <a:srgbClr val="EEE7DE"/>
          </a:solidFill>
          <a:ln w="12700">
            <a:solidFill>
              <a:srgbClr val="CD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91072" y="1901952"/>
            <a:ext cx="64008" cy="2926080"/>
          </a:xfrm>
          <a:prstGeom prst="rect">
            <a:avLst/>
          </a:prstGeom>
          <a:solidFill>
            <a:srgbClr val="A86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28816" y="2075688"/>
            <a:ext cx="4718304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20362E"/>
                </a:solidFill>
                <a:latin typeface="Aptos"/>
              </a:defRPr>
            </a:pPr>
            <a:r>
              <a:t>WHAT WE WILL MEASURE 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8816" y="2542032"/>
            <a:ext cx="4700016" cy="21945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5B6F63"/>
                </a:solidFill>
                <a:latin typeface="Aptos"/>
              </a:defRPr>
            </a:pPr>
            <a:r>
              <a:t>Native PostgreSQL query latency</a:t>
            </a:r>
          </a:p>
          <a:p>
            <a:pPr>
              <a:spcAft>
                <a:spcPts val="0"/>
              </a:spcAft>
              <a:defRPr sz="1700" b="0">
                <a:solidFill>
                  <a:srgbClr val="5B6F63"/>
                </a:solidFill>
                <a:latin typeface="Aptos"/>
              </a:defRPr>
            </a:pPr>
            <a:r>
              <a:t>Matching quality on labeled jobs</a:t>
            </a:r>
          </a:p>
          <a:p>
            <a:pPr>
              <a:spcAft>
                <a:spcPts val="0"/>
              </a:spcAft>
              <a:defRPr sz="1700" b="0">
                <a:solidFill>
                  <a:srgbClr val="5B6F63"/>
                </a:solidFill>
                <a:latin typeface="Aptos"/>
              </a:defRPr>
            </a:pPr>
            <a:r>
              <a:t>Security checks on a native server</a:t>
            </a:r>
          </a:p>
          <a:p>
            <a:pPr>
              <a:spcAft>
                <a:spcPts val="0"/>
              </a:spcAft>
              <a:defRPr sz="1700" b="0">
                <a:solidFill>
                  <a:srgbClr val="5B6F63"/>
                </a:solidFill>
                <a:latin typeface="Aptos"/>
              </a:defRPr>
            </a:pPr>
            <a:r>
              <a:t>User outcomes in a real 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5312664"/>
            <a:ext cx="10058400" cy="53035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spcAft>
                <a:spcPts val="0"/>
              </a:spcAft>
              <a:defRPr sz="1700" b="0">
                <a:solidFill>
                  <a:srgbClr val="5B6F63"/>
                </a:solidFill>
                <a:latin typeface="Aptos"/>
              </a:defRPr>
            </a:pPr>
            <a:r>
              <a:t>SkillCraft records payment claims. It does not send money, verify banks, or prove an earnings uplift.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