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presenting SkillCraft, a working prototype for finding and managing small local jobs. An employer posts a job, artisans offer a price, and one accepted offer becomes a contract. Our central idea is that each decision should leave a connected database record, so the original brief, competing offers, agreement, payment acknowledgments, and review can be traced later. Vedika, Bhavyaveer, and Anuj built this prototype for DBTHON 2026 under the guidance of Siva Sankari. I will show the user journey first, then the database rules that make the record dependable, and finally the evidence and remaining limits.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Imagine arranging a repair job through calls and chat. A week later, the employer and worker may struggle to establish which price was accepted, whether another bidder was declined, or whether payment was acknowledged. SkillCraft gives local artisans a place to discover work and gives employers a structured way to compare offers. It stores the whole sequence as linked records instead of relying on scattered messages. This relates to Sustainable Development Goal 8 because access to work and a portable work history could matter economically. That is a design goal: we have not yet measured changes in earnings or access.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one complete example using our seeded accounts, Ramesh the employer and Lakshmi the artisan. Ramesh posts a job with its skill, location, and budget. Lakshmi finds it and submits a bid. Ramesh accepts one offer; the job closes, competing pending bids are rejected, and one contract is created. For a new contract, Ramesh then records that payment was sent, and Lakshmi separately confirms receipt. Only after both actions is the contract marked paid and eligible for a review. When Ramesh reviews the work, the database updates Lakshmi's trust score. Each step remains connected to the original job.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accounts share the same underlying job, but they have different actions. Ramesh can post a brief, inspect offers on his own jobs, choose a worker, record payment sent, and review an eligible contract. Lakshmi can search open work, bid, follow the outcome, and confirm receipt on a contract awarded to her. This separation is more than a different menu. The API checks each user's role and ownership, and a restricted database role applies row-level rules to private bids, contracts, and events. For example, another employer cannot inspect or accept bids on Ramesh's job.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separates what the visitor sees from where the workflow rules live. React and Vite provide the pages and forms. The Express API authenticates requests and checks who is allowed to perform an action. The relational database stores linked records and enforces key rules with constraints, transactions, functions, triggers, and policies. Our local connected preview runs the PostgreSQL-compatible schema in PGlite, which makes the demo self-contained. The Docker setup specifies PostgreSQL 15, but we do not treat a local PGlite result as a native PostgreSQL performance result. The next slide shows the tables behind this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diagram from the shared USERS table. An artisan profile belongs to a user, while each GIG_POSTINGS row identifies its employer. A job can receive many GIG_APPLICATIONS, but an artisan can bid only once on that job. Accepting an application causes a database trigger to create one COMPLETION_CONTRACTS row for the job and select that artisan. A contract can have one RATINGS_REVIEWS row and many CONTRACT_EVENTS rows. The events preserve the sequence of contract actions. Primary and foreign keys keep the relationships valid; the unique contract-per-job rule prevents a second agreement for the same job. The full model contains seven tables.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hardest moment is when two offers for one job are accepted close together. Our API processes acceptance in a serializable transaction and locks the job row before checking that it is still open. The database trigger closes the job, rejects other pending bids, and creates the contract. A unique constraint on the contract's job ID adds another barrier to a second winner. Amount and status checks reject invalid records, while payment functions enforce the two acknowledgment steps. Our local tests confirm the one-winner behavior in PGlite. Native PostgreSQL server concurrency still needs a separate run, so we do not claim measured throughput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paid flag loses an important distinction: who said that payment happened? For new SkillCraft contracts, the employer first records payment sent. The selected artisan then confirms receipt. The contract changes to paid only after both timestamps exist, and database triggers append events identifying the action and actor. Those event rows cannot be edited or deleted through the supported database path. This is an auditable sequence of user claims, not proof of a bank transfer. Earlier sample contracts that were already paid remain visibly marked as legacy; the migration does not invent an artisan confirmation that never happened.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Reviews are connected to contracts, and a new contract must be paid before it can be reviewed. We then recalculate the artisan's stored score from eligible reviews. The formula starts with the equivalent of three virtual reviews at three and a half stars, so one new five-star review produces about 3.88, not a perfect five. This reduces the swing from a single early review. A database trigger runs the calculation after a review is inserted, keeping the displayed score in step with the record. The prior is a deliberate design choice; we have not tested whether it improves fairness or predicts future work quality.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SkillCraft also uses the database for discovery. Search can filter jobs or artisans by skill and match location or keywords using indexed queries. A simple fit score gives two points for the same skill and one for the same city, for a total from zero to three. Anyone can inspect why a result ranked where it did; this is a rule, not an AI prediction. For private data, the API uses a restricted database role and passes the signed-in identity to row-level policies. Public reputation comes through limited views, while private bids, contracts, events, and account fields have narrower access.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separate three kinds of evidence. Schema and API tests exercise the job-to-review journey, ownership rules, contract events, and payment transition against fresh PGlite databases. A separate Jest suite has twenty CRUD cases and four integrity or concurrent-acceptance cases, also on PGlite. The two browser checks cover interface behavior in visual demo mode, so they do not prove a live database connection. Together, these checks support functional behavior in a controlled local setup. They do not establish a search speed-up, ranking quality, native PostgreSQL concurrency, or social impact. Those claims need a baseline, repeatable dataset, measurements, and a native server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four rubric lines total eighteen available marks; these are criteria, not points already awarded to us. For the problem and domain, we show the broken chat-based workflow and the two user roles. For database design, we show the seven-table ER model, keys, constraints, and normalization rationale. For DBMS depth, we can point to the acceptance transaction, trigger, views, indexes, and row policies in the SQL. For innovation, the clearest evidence is the two-party payment sequence and append-only contract history. If the panel asks for proof, we can move from each claim to a table, SQL rule, or live action.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remaining four criteria total twelve available marks. On novelty, our comparison is with a simple employer-only paid flag and a plain review average; it is a design comparison, not a measured market advantage. On SDG alignment, we can explain the intended route to fairer access and portable history, while acknowledging that outcomes are unmeasured. On validation, we have passing functional tests but still need a native PostgreSQL benchmark and labeled matching examples. On readiness, we can run a two-account local demonstration, but there has been no field pilot. Matching each claim to its present evidence is how we intend to answer the panel fairly.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will use the connected preview with two seeded accounts. As Ramesh, I post a new job with a distinctive title and budget. I switch to Lakshmi, search for that job, and submit a bid. Back as Ramesh, I accept her offer; we can see the job close and one contract appear. I record payment sent, then switch to Lakshmi to confirm receipt. The contract becomes paid, so Ramesh can leave a review. Finally, I show the event sequence and updated trust score. This is the actual API and database path, not the browser-only visual demo. I will pause at each transition to show the record it produced.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deserve direct answers. First, can two artisans both win one job? The transaction, job-row lock, trigger, and unique contract rule work together to prevent that outcome; our local test checks it, and a native server run remains. Second, does paid mean money was verified? No. It means the employer reported sending payment and the artisan reported receiving it. Third, where is the measured improvement? We have not claimed one. We still need a defined baseline, enough data, repeated native PostgreSQL queries, and labeled examples for ranking quality. These limits help keep the prototype's claims precise.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SkillCraft's contribution is a connected, enforceable record of a local job: the brief, every bid, one chosen worker, a contract, two payment acknowledgments, and a review. The working prototype demonstrates this through two roles and seven related tables. The database carries the important guarantees, including one contract per job, ownership rules, append-only events, and automatic trust-score updates. The next work is to measure search performance and match quality on a defined baseline, repeat security and concurrency checks on native PostgreSQL, and learn from a real pilot. SkillCraft records user claims about payment; it does not transfer or independently verify money. Thank you; we welcome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882127" y="0"/>
            <a:ext cx="4309567" cy="6858000"/>
          </a:xfrm>
          <a:prstGeom prst="rect">
            <a:avLst/>
          </a:prstGeom>
          <a:solidFill>
            <a:srgbClr val="E4E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03504" y="548640"/>
            <a:ext cx="6949440" cy="256032"/>
          </a:xfrm>
          <a:prstGeom prst="rect">
            <a:avLst/>
          </a:prstGeom>
          <a:noFill/>
        </p:spPr>
        <p:txBody>
          <a:bodyPr wrap="square" lIns="13716" rIns="13716" tIns="13716" bIns="13716" anchor="t">
            <a:spAutoFit/>
          </a:bodyPr>
          <a:lstStyle/>
          <a:p>
            <a:pPr>
              <a:spcAft>
                <a:spcPts val="0"/>
              </a:spcAft>
              <a:defRPr sz="1100" b="1">
                <a:solidFill>
                  <a:srgbClr val="426A54"/>
                </a:solidFill>
                <a:latin typeface="Aptos"/>
              </a:defRPr>
            </a:pPr>
            <a:r>
              <a:t>DBTHON 2026  /  DATABASE SYSTEMS HACKATHON</a:t>
            </a:r>
          </a:p>
        </p:txBody>
      </p:sp>
      <p:sp>
        <p:nvSpPr>
          <p:cNvPr id="5" name="TextBox 4"/>
          <p:cNvSpPr txBox="1"/>
          <p:nvPr/>
        </p:nvSpPr>
        <p:spPr>
          <a:xfrm>
            <a:off x="585216" y="1325880"/>
            <a:ext cx="6583680" cy="822960"/>
          </a:xfrm>
          <a:prstGeom prst="rect">
            <a:avLst/>
          </a:prstGeom>
          <a:noFill/>
        </p:spPr>
        <p:txBody>
          <a:bodyPr wrap="square" lIns="13716" rIns="13716" tIns="13716" bIns="13716" anchor="t">
            <a:spAutoFit/>
          </a:bodyPr>
          <a:lstStyle/>
          <a:p>
            <a:pPr>
              <a:spcAft>
                <a:spcPts val="0"/>
              </a:spcAft>
              <a:defRPr sz="4600" b="1">
                <a:solidFill>
                  <a:srgbClr val="20362E"/>
                </a:solidFill>
                <a:latin typeface="Aptos"/>
              </a:defRPr>
            </a:pPr>
            <a:r>
              <a:t>SkillCraft</a:t>
            </a:r>
          </a:p>
        </p:txBody>
      </p:sp>
      <p:sp>
        <p:nvSpPr>
          <p:cNvPr id="6" name="TextBox 5"/>
          <p:cNvSpPr txBox="1"/>
          <p:nvPr/>
        </p:nvSpPr>
        <p:spPr>
          <a:xfrm>
            <a:off x="612648" y="2286000"/>
            <a:ext cx="6766560" cy="658368"/>
          </a:xfrm>
          <a:prstGeom prst="rect">
            <a:avLst/>
          </a:prstGeom>
          <a:noFill/>
        </p:spPr>
        <p:txBody>
          <a:bodyPr wrap="square" lIns="13716" rIns="13716" tIns="13716" bIns="13716" anchor="t">
            <a:spAutoFit/>
          </a:bodyPr>
          <a:lstStyle/>
          <a:p>
            <a:pPr>
              <a:spcAft>
                <a:spcPts val="0"/>
              </a:spcAft>
              <a:defRPr sz="2700" b="0">
                <a:solidFill>
                  <a:srgbClr val="20362E"/>
                </a:solidFill>
                <a:latin typeface="Georgia"/>
              </a:defRPr>
            </a:pPr>
            <a:r>
              <a:t>Local work, with a reliable record.</a:t>
            </a:r>
          </a:p>
        </p:txBody>
      </p:sp>
      <p:sp>
        <p:nvSpPr>
          <p:cNvPr id="7" name="TextBox 6"/>
          <p:cNvSpPr txBox="1"/>
          <p:nvPr/>
        </p:nvSpPr>
        <p:spPr>
          <a:xfrm>
            <a:off x="630936" y="3273552"/>
            <a:ext cx="6355080" cy="914400"/>
          </a:xfrm>
          <a:prstGeom prst="rect">
            <a:avLst/>
          </a:prstGeom>
          <a:noFill/>
        </p:spPr>
        <p:txBody>
          <a:bodyPr wrap="square" lIns="13716" rIns="13716" tIns="13716" bIns="13716" anchor="t">
            <a:spAutoFit/>
          </a:bodyPr>
          <a:lstStyle/>
          <a:p>
            <a:pPr>
              <a:spcAft>
                <a:spcPts val="0"/>
              </a:spcAft>
              <a:defRPr sz="2000" b="0">
                <a:solidFill>
                  <a:srgbClr val="5B6F63"/>
                </a:solidFill>
                <a:latin typeface="Aptos"/>
              </a:defRPr>
            </a:pPr>
            <a:r>
              <a:t>Employers post jobs. Artisans bid. The database keeps every decision, agreement and review connected.</a:t>
            </a:r>
          </a:p>
        </p:txBody>
      </p:sp>
      <p:sp>
        <p:nvSpPr>
          <p:cNvPr id="8" name="Rounded Rectangle 7"/>
          <p:cNvSpPr/>
          <p:nvPr/>
        </p:nvSpPr>
        <p:spPr>
          <a:xfrm>
            <a:off x="630936" y="4800600"/>
            <a:ext cx="2011680" cy="310896"/>
          </a:xfrm>
          <a:prstGeom prst="roundRect">
            <a:avLst>
              <a:gd name="adj" fmla="val 6000"/>
            </a:avLst>
          </a:prstGeom>
          <a:solidFill>
            <a:srgbClr val="E4E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7" y="4841748"/>
            <a:ext cx="1865376" cy="228600"/>
          </a:xfrm>
          <a:prstGeom prst="rect">
            <a:avLst/>
          </a:prstGeom>
          <a:noFill/>
        </p:spPr>
        <p:txBody>
          <a:bodyPr wrap="square" lIns="13716" rIns="13716" tIns="13716" bIns="13716" anchor="t">
            <a:spAutoFit/>
          </a:bodyPr>
          <a:lstStyle/>
          <a:p>
            <a:pPr>
              <a:spcAft>
                <a:spcPts val="0"/>
              </a:spcAft>
              <a:defRPr sz="1100" b="1">
                <a:solidFill>
                  <a:srgbClr val="426A54"/>
                </a:solidFill>
                <a:latin typeface="Aptos"/>
              </a:defRPr>
            </a:pPr>
            <a:r>
              <a:t>WORKING PROTOTYPE</a:t>
            </a:r>
          </a:p>
        </p:txBody>
      </p:sp>
      <p:sp>
        <p:nvSpPr>
          <p:cNvPr id="10" name="TextBox 9"/>
          <p:cNvSpPr txBox="1"/>
          <p:nvPr/>
        </p:nvSpPr>
        <p:spPr>
          <a:xfrm>
            <a:off x="630936" y="5715000"/>
            <a:ext cx="6583680" cy="320040"/>
          </a:xfrm>
          <a:prstGeom prst="rect">
            <a:avLst/>
          </a:prstGeom>
          <a:noFill/>
        </p:spPr>
        <p:txBody>
          <a:bodyPr wrap="square" lIns="13716" rIns="13716" tIns="13716" bIns="13716" anchor="t">
            <a:spAutoFit/>
          </a:bodyPr>
          <a:lstStyle/>
          <a:p>
            <a:pPr>
              <a:spcAft>
                <a:spcPts val="0"/>
              </a:spcAft>
              <a:defRPr sz="1300" b="0">
                <a:solidFill>
                  <a:srgbClr val="20362E"/>
                </a:solidFill>
                <a:latin typeface="Aptos"/>
              </a:defRPr>
            </a:pPr>
            <a:r>
              <a:t>Vedika Agarwal  ·  Bhavyaveer Kumar  ·  Anuj Deshpande</a:t>
            </a:r>
          </a:p>
        </p:txBody>
      </p:sp>
      <p:sp>
        <p:nvSpPr>
          <p:cNvPr id="11" name="TextBox 10"/>
          <p:cNvSpPr txBox="1"/>
          <p:nvPr/>
        </p:nvSpPr>
        <p:spPr>
          <a:xfrm>
            <a:off x="630936" y="6080760"/>
            <a:ext cx="5943600" cy="256032"/>
          </a:xfrm>
          <a:prstGeom prst="rect">
            <a:avLst/>
          </a:prstGeom>
          <a:noFill/>
        </p:spPr>
        <p:txBody>
          <a:bodyPr wrap="square" lIns="13716" rIns="13716" tIns="13716" bIns="13716" anchor="t">
            <a:spAutoFit/>
          </a:bodyPr>
          <a:lstStyle/>
          <a:p>
            <a:pPr>
              <a:spcAft>
                <a:spcPts val="0"/>
              </a:spcAft>
              <a:defRPr sz="1100" b="0">
                <a:solidFill>
                  <a:srgbClr val="5B6F63"/>
                </a:solidFill>
                <a:latin typeface="Aptos"/>
              </a:defRPr>
            </a:pPr>
            <a:r>
              <a:t>Faculty guide: Siva Sankari  ·  2026–27</a:t>
            </a:r>
          </a:p>
        </p:txBody>
      </p:sp>
      <p:sp>
        <p:nvSpPr>
          <p:cNvPr id="12" name="Rounded Rectangle 11"/>
          <p:cNvSpPr/>
          <p:nvPr/>
        </p:nvSpPr>
        <p:spPr>
          <a:xfrm>
            <a:off x="8275320" y="1188720"/>
            <a:ext cx="3355848" cy="969264"/>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0" y="1380744"/>
            <a:ext cx="457200" cy="384048"/>
          </a:xfrm>
          <a:prstGeom prst="rect">
            <a:avLst/>
          </a:prstGeom>
          <a:noFill/>
        </p:spPr>
        <p:txBody>
          <a:bodyPr wrap="square" lIns="13716" rIns="13716" tIns="13716" bIns="13716" anchor="t">
            <a:spAutoFit/>
          </a:bodyPr>
          <a:lstStyle/>
          <a:p>
            <a:pPr>
              <a:spcAft>
                <a:spcPts val="0"/>
              </a:spcAft>
              <a:defRPr sz="2000" b="1">
                <a:solidFill>
                  <a:srgbClr val="426A54"/>
                </a:solidFill>
                <a:latin typeface="Aptos"/>
              </a:defRPr>
            </a:pPr>
            <a:r>
              <a:t>01</a:t>
            </a:r>
          </a:p>
        </p:txBody>
      </p:sp>
      <p:sp>
        <p:nvSpPr>
          <p:cNvPr id="14" name="TextBox 13"/>
          <p:cNvSpPr txBox="1"/>
          <p:nvPr/>
        </p:nvSpPr>
        <p:spPr>
          <a:xfrm>
            <a:off x="9079992" y="1408176"/>
            <a:ext cx="2240280" cy="530352"/>
          </a:xfrm>
          <a:prstGeom prst="rect">
            <a:avLst/>
          </a:prstGeom>
          <a:noFill/>
        </p:spPr>
        <p:txBody>
          <a:bodyPr wrap="square" lIns="13716" rIns="13716" tIns="13716" bIns="13716" anchor="t">
            <a:spAutoFit/>
          </a:bodyPr>
          <a:lstStyle/>
          <a:p>
            <a:pPr>
              <a:spcAft>
                <a:spcPts val="0"/>
              </a:spcAft>
              <a:defRPr sz="1700" b="1">
                <a:solidFill>
                  <a:srgbClr val="20362E"/>
                </a:solidFill>
                <a:latin typeface="Aptos"/>
              </a:defRPr>
            </a:pPr>
            <a:r>
              <a:t>A job is posted</a:t>
            </a:r>
          </a:p>
        </p:txBody>
      </p:sp>
      <p:sp>
        <p:nvSpPr>
          <p:cNvPr id="15" name="Rounded Rectangle 14"/>
          <p:cNvSpPr/>
          <p:nvPr/>
        </p:nvSpPr>
        <p:spPr>
          <a:xfrm>
            <a:off x="8275320" y="2496312"/>
            <a:ext cx="3355848" cy="969264"/>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0" y="2688336"/>
            <a:ext cx="457200" cy="384048"/>
          </a:xfrm>
          <a:prstGeom prst="rect">
            <a:avLst/>
          </a:prstGeom>
          <a:noFill/>
        </p:spPr>
        <p:txBody>
          <a:bodyPr wrap="square" lIns="13716" rIns="13716" tIns="13716" bIns="13716" anchor="t">
            <a:spAutoFit/>
          </a:bodyPr>
          <a:lstStyle/>
          <a:p>
            <a:pPr>
              <a:spcAft>
                <a:spcPts val="0"/>
              </a:spcAft>
              <a:defRPr sz="2000" b="1">
                <a:solidFill>
                  <a:srgbClr val="426A54"/>
                </a:solidFill>
                <a:latin typeface="Aptos"/>
              </a:defRPr>
            </a:pPr>
            <a:r>
              <a:t>02</a:t>
            </a:r>
          </a:p>
        </p:txBody>
      </p:sp>
      <p:sp>
        <p:nvSpPr>
          <p:cNvPr id="17" name="TextBox 16"/>
          <p:cNvSpPr txBox="1"/>
          <p:nvPr/>
        </p:nvSpPr>
        <p:spPr>
          <a:xfrm>
            <a:off x="9079992" y="2715768"/>
            <a:ext cx="2240280" cy="530352"/>
          </a:xfrm>
          <a:prstGeom prst="rect">
            <a:avLst/>
          </a:prstGeom>
          <a:noFill/>
        </p:spPr>
        <p:txBody>
          <a:bodyPr wrap="square" lIns="13716" rIns="13716" tIns="13716" bIns="13716" anchor="t">
            <a:spAutoFit/>
          </a:bodyPr>
          <a:lstStyle/>
          <a:p>
            <a:pPr>
              <a:spcAft>
                <a:spcPts val="0"/>
              </a:spcAft>
              <a:defRPr sz="1700" b="1">
                <a:solidFill>
                  <a:srgbClr val="20362E"/>
                </a:solidFill>
                <a:latin typeface="Aptos"/>
              </a:defRPr>
            </a:pPr>
            <a:r>
              <a:t>An artisan is selected</a:t>
            </a:r>
          </a:p>
        </p:txBody>
      </p:sp>
      <p:sp>
        <p:nvSpPr>
          <p:cNvPr id="18" name="Rounded Rectangle 17"/>
          <p:cNvSpPr/>
          <p:nvPr/>
        </p:nvSpPr>
        <p:spPr>
          <a:xfrm>
            <a:off x="8275320" y="3803904"/>
            <a:ext cx="3355848" cy="969264"/>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3920" y="3995928"/>
            <a:ext cx="457200" cy="384048"/>
          </a:xfrm>
          <a:prstGeom prst="rect">
            <a:avLst/>
          </a:prstGeom>
          <a:noFill/>
        </p:spPr>
        <p:txBody>
          <a:bodyPr wrap="square" lIns="13716" rIns="13716" tIns="13716" bIns="13716" anchor="t">
            <a:spAutoFit/>
          </a:bodyPr>
          <a:lstStyle/>
          <a:p>
            <a:pPr>
              <a:spcAft>
                <a:spcPts val="0"/>
              </a:spcAft>
              <a:defRPr sz="2000" b="1">
                <a:solidFill>
                  <a:srgbClr val="426A54"/>
                </a:solidFill>
                <a:latin typeface="Aptos"/>
              </a:defRPr>
            </a:pPr>
            <a:r>
              <a:t>03</a:t>
            </a:r>
          </a:p>
        </p:txBody>
      </p:sp>
      <p:sp>
        <p:nvSpPr>
          <p:cNvPr id="20" name="TextBox 19"/>
          <p:cNvSpPr txBox="1"/>
          <p:nvPr/>
        </p:nvSpPr>
        <p:spPr>
          <a:xfrm>
            <a:off x="9079992" y="4023360"/>
            <a:ext cx="2240280" cy="530352"/>
          </a:xfrm>
          <a:prstGeom prst="rect">
            <a:avLst/>
          </a:prstGeom>
          <a:noFill/>
        </p:spPr>
        <p:txBody>
          <a:bodyPr wrap="square" lIns="13716" rIns="13716" tIns="13716" bIns="13716" anchor="t">
            <a:spAutoFit/>
          </a:bodyPr>
          <a:lstStyle/>
          <a:p>
            <a:pPr>
              <a:spcAft>
                <a:spcPts val="0"/>
              </a:spcAft>
              <a:defRPr sz="1700" b="1">
                <a:solidFill>
                  <a:srgbClr val="20362E"/>
                </a:solidFill>
                <a:latin typeface="Aptos"/>
              </a:defRPr>
            </a:pPr>
            <a:r>
              <a:t>A contract records the outcome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4937760" cy="237744"/>
          </a:xfrm>
          <a:prstGeom prst="rect">
            <a:avLst/>
          </a:prstGeom>
          <a:noFill/>
        </p:spPr>
        <p:txBody>
          <a:bodyPr wrap="square" lIns="13716" rIns="13716" tIns="13716" bIns="13716" anchor="t">
            <a:spAutoFit/>
          </a:bodyPr>
          <a:lstStyle/>
          <a:p>
            <a:pPr>
              <a:spcAft>
                <a:spcPts val="0"/>
              </a:spcAft>
              <a:defRPr sz="1000" b="1">
                <a:solidFill>
                  <a:srgbClr val="426A54"/>
                </a:solidFill>
                <a:latin typeface="Aptos"/>
              </a:defRPr>
            </a:pPr>
            <a:r>
              <a:t>SKILLCRAFT  /  DBTHON 2026</a:t>
            </a:r>
          </a:p>
        </p:txBody>
      </p:sp>
      <p:sp>
        <p:nvSpPr>
          <p:cNvPr id="4" name="TextBox 3"/>
          <p:cNvSpPr txBox="1"/>
          <p:nvPr/>
        </p:nvSpPr>
        <p:spPr>
          <a:xfrm>
            <a:off x="9144000" y="256032"/>
            <a:ext cx="2496312" cy="237744"/>
          </a:xfrm>
          <a:prstGeom prst="rect">
            <a:avLst/>
          </a:prstGeom>
          <a:noFill/>
        </p:spPr>
        <p:txBody>
          <a:bodyPr wrap="square" lIns="13716" rIns="13716" tIns="13716" bIns="13716" anchor="t">
            <a:spAutoFit/>
          </a:bodyPr>
          <a:lstStyle/>
          <a:p>
            <a:pPr algn="r">
              <a:spcAft>
                <a:spcPts val="0"/>
              </a:spcAft>
              <a:defRPr sz="1000" b="1">
                <a:solidFill>
                  <a:srgbClr val="5B6F63"/>
                </a:solidFill>
                <a:latin typeface="Aptos"/>
              </a:defRPr>
            </a:pPr>
            <a:r>
              <a:t>PROBLEM + DOMAIN · 4 MARKS</a:t>
            </a:r>
          </a:p>
        </p:txBody>
      </p:sp>
      <p:sp>
        <p:nvSpPr>
          <p:cNvPr id="5" name="TextBox 4"/>
          <p:cNvSpPr txBox="1"/>
          <p:nvPr/>
        </p:nvSpPr>
        <p:spPr>
          <a:xfrm>
            <a:off x="502920" y="640080"/>
            <a:ext cx="11064240" cy="530352"/>
          </a:xfrm>
          <a:prstGeom prst="rect">
            <a:avLst/>
          </a:prstGeom>
          <a:noFill/>
        </p:spPr>
        <p:txBody>
          <a:bodyPr wrap="square" lIns="13716" rIns="13716" tIns="13716" bIns="13716" anchor="t">
            <a:spAutoFit/>
          </a:bodyPr>
          <a:lstStyle/>
          <a:p>
            <a:pPr>
              <a:spcAft>
                <a:spcPts val="0"/>
              </a:spcAft>
              <a:defRPr sz="3000" b="1">
                <a:solidFill>
                  <a:srgbClr val="20362E"/>
                </a:solidFill>
                <a:latin typeface="Aptos"/>
              </a:defRPr>
            </a:pPr>
            <a:r>
              <a:t>The problem is missing work history</a:t>
            </a:r>
          </a:p>
        </p:txBody>
      </p:sp>
      <p:sp>
        <p:nvSpPr>
          <p:cNvPr id="6" name="TextBox 5"/>
          <p:cNvSpPr txBox="1"/>
          <p:nvPr/>
        </p:nvSpPr>
        <p:spPr>
          <a:xfrm>
            <a:off x="521207" y="1234440"/>
            <a:ext cx="10972800" cy="411480"/>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Small jobs often live in calls and chat messages; decisions are hard to trace later.</a:t>
            </a:r>
          </a:p>
        </p:txBody>
      </p:sp>
      <p:cxnSp>
        <p:nvCxnSpPr>
          <p:cNvPr id="7" name="Connector 6"/>
          <p:cNvCxnSpPr/>
          <p:nvPr/>
        </p:nvCxnSpPr>
        <p:spPr>
          <a:xfrm>
            <a:off x="502920" y="6501384"/>
            <a:ext cx="11183112" cy="0"/>
          </a:xfrm>
          <a:prstGeom prst="line">
            <a:avLst/>
          </a:prstGeom>
          <a:ln w="12700">
            <a:solidFill>
              <a:srgbClr val="CDD8CD"/>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12064" y="6556248"/>
            <a:ext cx="6400800" cy="182880"/>
          </a:xfrm>
          <a:prstGeom prst="rect">
            <a:avLst/>
          </a:prstGeom>
          <a:noFill/>
        </p:spPr>
        <p:txBody>
          <a:bodyPr wrap="square" lIns="13716" rIns="13716" tIns="13716" bIns="13716" anchor="t">
            <a:spAutoFit/>
          </a:bodyPr>
          <a:lstStyle/>
          <a:p>
            <a:pPr>
              <a:spcAft>
                <a:spcPts val="0"/>
              </a:spcAft>
              <a:defRPr sz="900" b="0">
                <a:solidFill>
                  <a:srgbClr val="5B6F63"/>
                </a:solidFill>
                <a:latin typeface="Aptos"/>
              </a:defRPr>
            </a:pPr>
            <a:r>
              <a:t>SkillCraft  •  database systems prototype</a:t>
            </a:r>
          </a:p>
        </p:txBody>
      </p:sp>
      <p:sp>
        <p:nvSpPr>
          <p:cNvPr id="9" name="TextBox 8"/>
          <p:cNvSpPr txBox="1"/>
          <p:nvPr/>
        </p:nvSpPr>
        <p:spPr>
          <a:xfrm>
            <a:off x="11082528" y="6547104"/>
            <a:ext cx="548640" cy="182880"/>
          </a:xfrm>
          <a:prstGeom prst="rect">
            <a:avLst/>
          </a:prstGeom>
          <a:noFill/>
        </p:spPr>
        <p:txBody>
          <a:bodyPr wrap="square" lIns="13716" rIns="13716" tIns="13716" bIns="13716" anchor="t">
            <a:spAutoFit/>
          </a:bodyPr>
          <a:lstStyle/>
          <a:p>
            <a:pPr algn="r">
              <a:spcAft>
                <a:spcPts val="0"/>
              </a:spcAft>
              <a:defRPr sz="900" b="0">
                <a:solidFill>
                  <a:srgbClr val="5B6F63"/>
                </a:solidFill>
                <a:latin typeface="Aptos"/>
              </a:defRPr>
            </a:pPr>
            <a:r>
              <a:t>02</a:t>
            </a:r>
          </a:p>
        </p:txBody>
      </p:sp>
      <p:sp>
        <p:nvSpPr>
          <p:cNvPr id="10" name="Rounded Rectangle 9"/>
          <p:cNvSpPr/>
          <p:nvPr/>
        </p:nvSpPr>
        <p:spPr>
          <a:xfrm>
            <a:off x="548640" y="1892807"/>
            <a:ext cx="3447288" cy="2834640"/>
          </a:xfrm>
          <a:prstGeom prst="roundRect">
            <a:avLst>
              <a:gd name="adj" fmla="val 6000"/>
            </a:avLst>
          </a:prstGeom>
          <a:solidFill>
            <a:srgbClr val="EEE7DE"/>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892807"/>
            <a:ext cx="64008" cy="2834640"/>
          </a:xfrm>
          <a:prstGeom prst="rect">
            <a:avLst/>
          </a:prstGeom>
          <a:solidFill>
            <a:srgbClr val="A86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6384" y="2066543"/>
            <a:ext cx="2990088" cy="365760"/>
          </a:xfrm>
          <a:prstGeom prst="rect">
            <a:avLst/>
          </a:prstGeom>
          <a:noFill/>
        </p:spPr>
        <p:txBody>
          <a:bodyPr wrap="square" lIns="13716" rIns="13716" tIns="13716" bIns="13716" anchor="t">
            <a:spAutoFit/>
          </a:bodyPr>
          <a:lstStyle/>
          <a:p>
            <a:pPr>
              <a:spcAft>
                <a:spcPts val="0"/>
              </a:spcAft>
              <a:defRPr sz="1700" b="1">
                <a:solidFill>
                  <a:srgbClr val="20362E"/>
                </a:solidFill>
                <a:latin typeface="Aptos"/>
              </a:defRPr>
            </a:pPr>
            <a:r>
              <a:t>Today: scattered messages</a:t>
            </a:r>
          </a:p>
        </p:txBody>
      </p:sp>
      <p:sp>
        <p:nvSpPr>
          <p:cNvPr id="13" name="TextBox 12"/>
          <p:cNvSpPr txBox="1"/>
          <p:nvPr/>
        </p:nvSpPr>
        <p:spPr>
          <a:xfrm>
            <a:off x="786384" y="2532887"/>
            <a:ext cx="2971800" cy="2103120"/>
          </a:xfrm>
          <a:prstGeom prst="rect">
            <a:avLst/>
          </a:prstGeom>
          <a:noFill/>
        </p:spPr>
        <p:txBody>
          <a:bodyPr wrap="square" lIns="13716" rIns="13716" tIns="13716" bIns="13716" anchor="t">
            <a:spAutoFit/>
          </a:bodyPr>
          <a:lstStyle/>
          <a:p>
            <a:pPr>
              <a:spcAft>
                <a:spcPts val="0"/>
              </a:spcAft>
              <a:defRPr sz="1800" b="0">
                <a:solidFill>
                  <a:srgbClr val="5B6F63"/>
                </a:solidFill>
                <a:latin typeface="Aptos"/>
              </a:defRPr>
            </a:pPr>
            <a:r>
              <a:t>Who applied? Which price was accepted? Was payment acknowledged? The answers can be buried or disputed.</a:t>
            </a:r>
          </a:p>
        </p:txBody>
      </p:sp>
      <p:sp>
        <p:nvSpPr>
          <p:cNvPr id="14" name="Rounded Rectangle 13"/>
          <p:cNvSpPr/>
          <p:nvPr/>
        </p:nvSpPr>
        <p:spPr>
          <a:xfrm>
            <a:off x="4370832" y="1892807"/>
            <a:ext cx="3447288" cy="2834640"/>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70832" y="1892807"/>
            <a:ext cx="64008" cy="2834640"/>
          </a:xfrm>
          <a:prstGeom prst="rect">
            <a:avLst/>
          </a:prstGeom>
          <a:solidFill>
            <a:srgbClr val="42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576" y="2066543"/>
            <a:ext cx="2990088" cy="365760"/>
          </a:xfrm>
          <a:prstGeom prst="rect">
            <a:avLst/>
          </a:prstGeom>
          <a:noFill/>
        </p:spPr>
        <p:txBody>
          <a:bodyPr wrap="square" lIns="13716" rIns="13716" tIns="13716" bIns="13716" anchor="t">
            <a:spAutoFit/>
          </a:bodyPr>
          <a:lstStyle/>
          <a:p>
            <a:pPr>
              <a:spcAft>
                <a:spcPts val="0"/>
              </a:spcAft>
              <a:defRPr sz="1700" b="1">
                <a:solidFill>
                  <a:srgbClr val="20362E"/>
                </a:solidFill>
                <a:latin typeface="Aptos"/>
              </a:defRPr>
            </a:pPr>
            <a:r>
              <a:t>SkillCraft: linked records</a:t>
            </a:r>
          </a:p>
        </p:txBody>
      </p:sp>
      <p:sp>
        <p:nvSpPr>
          <p:cNvPr id="17" name="TextBox 16"/>
          <p:cNvSpPr txBox="1"/>
          <p:nvPr/>
        </p:nvSpPr>
        <p:spPr>
          <a:xfrm>
            <a:off x="4608576" y="2532887"/>
            <a:ext cx="2971800" cy="2103120"/>
          </a:xfrm>
          <a:prstGeom prst="rect">
            <a:avLst/>
          </a:prstGeom>
          <a:noFill/>
        </p:spPr>
        <p:txBody>
          <a:bodyPr wrap="square" lIns="13716" rIns="13716" tIns="13716" bIns="13716" anchor="t">
            <a:spAutoFit/>
          </a:bodyPr>
          <a:lstStyle/>
          <a:p>
            <a:pPr>
              <a:spcAft>
                <a:spcPts val="0"/>
              </a:spcAft>
              <a:defRPr sz="1800" b="0">
                <a:solidFill>
                  <a:srgbClr val="5B6F63"/>
                </a:solidFill>
                <a:latin typeface="Aptos"/>
              </a:defRPr>
            </a:pPr>
            <a:r>
              <a:t>The original job, every bid, the chosen artisan, the contract and the later review stay connected.</a:t>
            </a:r>
          </a:p>
        </p:txBody>
      </p:sp>
      <p:sp>
        <p:nvSpPr>
          <p:cNvPr id="18" name="Rounded Rectangle 17"/>
          <p:cNvSpPr/>
          <p:nvPr/>
        </p:nvSpPr>
        <p:spPr>
          <a:xfrm>
            <a:off x="8202168" y="1892807"/>
            <a:ext cx="3447288" cy="2834640"/>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02168" y="1892807"/>
            <a:ext cx="64008" cy="2834640"/>
          </a:xfrm>
          <a:prstGeom prst="rect">
            <a:avLst/>
          </a:prstGeom>
          <a:solidFill>
            <a:srgbClr val="42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39912" y="2066543"/>
            <a:ext cx="2990088" cy="365760"/>
          </a:xfrm>
          <a:prstGeom prst="rect">
            <a:avLst/>
          </a:prstGeom>
          <a:noFill/>
        </p:spPr>
        <p:txBody>
          <a:bodyPr wrap="square" lIns="13716" rIns="13716" tIns="13716" bIns="13716" anchor="t">
            <a:spAutoFit/>
          </a:bodyPr>
          <a:lstStyle/>
          <a:p>
            <a:pPr>
              <a:spcAft>
                <a:spcPts val="0"/>
              </a:spcAft>
              <a:defRPr sz="1700" b="1">
                <a:solidFill>
                  <a:srgbClr val="20362E"/>
                </a:solidFill>
                <a:latin typeface="Aptos"/>
              </a:defRPr>
            </a:pPr>
            <a:r>
              <a:t>Who it serves</a:t>
            </a:r>
          </a:p>
        </p:txBody>
      </p:sp>
      <p:sp>
        <p:nvSpPr>
          <p:cNvPr id="21" name="TextBox 20"/>
          <p:cNvSpPr txBox="1"/>
          <p:nvPr/>
        </p:nvSpPr>
        <p:spPr>
          <a:xfrm>
            <a:off x="8439912" y="2532887"/>
            <a:ext cx="2971800" cy="2103120"/>
          </a:xfrm>
          <a:prstGeom prst="rect">
            <a:avLst/>
          </a:prstGeom>
          <a:noFill/>
        </p:spPr>
        <p:txBody>
          <a:bodyPr wrap="square" lIns="13716" rIns="13716" tIns="13716" bIns="13716" anchor="t">
            <a:spAutoFit/>
          </a:bodyPr>
          <a:lstStyle/>
          <a:p>
            <a:pPr>
              <a:spcAft>
                <a:spcPts val="0"/>
              </a:spcAft>
              <a:defRPr sz="1800" b="0">
                <a:solidFill>
                  <a:srgbClr val="5B6F63"/>
                </a:solidFill>
                <a:latin typeface="Aptos"/>
              </a:defRPr>
            </a:pPr>
            <a:r>
              <a:t>Local artisans seeking visible opportunities, and employers comparing offers for short projects.</a:t>
            </a:r>
          </a:p>
        </p:txBody>
      </p:sp>
      <p:sp>
        <p:nvSpPr>
          <p:cNvPr id="22" name="Rounded Rectangle 21"/>
          <p:cNvSpPr/>
          <p:nvPr/>
        </p:nvSpPr>
        <p:spPr>
          <a:xfrm>
            <a:off x="566928" y="5157216"/>
            <a:ext cx="2496312" cy="310896"/>
          </a:xfrm>
          <a:prstGeom prst="roundRect">
            <a:avLst>
              <a:gd name="adj" fmla="val 6000"/>
            </a:avLst>
          </a:prstGeom>
          <a:solidFill>
            <a:srgbClr val="E4E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198364"/>
            <a:ext cx="2350008" cy="228600"/>
          </a:xfrm>
          <a:prstGeom prst="rect">
            <a:avLst/>
          </a:prstGeom>
          <a:noFill/>
        </p:spPr>
        <p:txBody>
          <a:bodyPr wrap="square" lIns="13716" rIns="13716" tIns="13716" bIns="13716" anchor="t">
            <a:spAutoFit/>
          </a:bodyPr>
          <a:lstStyle/>
          <a:p>
            <a:pPr>
              <a:spcAft>
                <a:spcPts val="0"/>
              </a:spcAft>
              <a:defRPr sz="1100" b="1">
                <a:solidFill>
                  <a:srgbClr val="426A54"/>
                </a:solidFill>
                <a:latin typeface="Aptos"/>
              </a:defRPr>
            </a:pPr>
            <a:r>
              <a:t>DOMAIN: LOCAL EMPLOYMENT</a:t>
            </a:r>
          </a:p>
        </p:txBody>
      </p:sp>
      <p:sp>
        <p:nvSpPr>
          <p:cNvPr id="24" name="TextBox 23"/>
          <p:cNvSpPr txBox="1"/>
          <p:nvPr/>
        </p:nvSpPr>
        <p:spPr>
          <a:xfrm>
            <a:off x="3328416" y="5074920"/>
            <a:ext cx="7818120" cy="667512"/>
          </a:xfrm>
          <a:prstGeom prst="rect">
            <a:avLst/>
          </a:prstGeom>
          <a:noFill/>
        </p:spPr>
        <p:txBody>
          <a:bodyPr wrap="square" lIns="13716" rIns="13716" tIns="13716" bIns="13716" anchor="t">
            <a:spAutoFit/>
          </a:bodyPr>
          <a:lstStyle/>
          <a:p>
            <a:pPr>
              <a:spcAft>
                <a:spcPts val="0"/>
              </a:spcAft>
              <a:defRPr sz="1700" b="0">
                <a:solidFill>
                  <a:srgbClr val="5B6F63"/>
                </a:solidFill>
                <a:latin typeface="Aptos"/>
              </a:defRPr>
            </a:pPr>
            <a:r>
              <a:t>SDG 8 alignment: access to decent work and a portable work record. Economic impact is a goal, not a measured result yet.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4937760" cy="237744"/>
          </a:xfrm>
          <a:prstGeom prst="rect">
            <a:avLst/>
          </a:prstGeom>
          <a:noFill/>
        </p:spPr>
        <p:txBody>
          <a:bodyPr wrap="square" lIns="13716" rIns="13716" tIns="13716" bIns="13716" anchor="t">
            <a:spAutoFit/>
          </a:bodyPr>
          <a:lstStyle/>
          <a:p>
            <a:pPr>
              <a:spcAft>
                <a:spcPts val="0"/>
              </a:spcAft>
              <a:defRPr sz="1000" b="1">
                <a:solidFill>
                  <a:srgbClr val="426A54"/>
                </a:solidFill>
                <a:latin typeface="Aptos"/>
              </a:defRPr>
            </a:pPr>
            <a:r>
              <a:t>SKILLCRAFT  /  DBTHON 2026</a:t>
            </a:r>
          </a:p>
        </p:txBody>
      </p:sp>
      <p:sp>
        <p:nvSpPr>
          <p:cNvPr id="4" name="TextBox 3"/>
          <p:cNvSpPr txBox="1"/>
          <p:nvPr/>
        </p:nvSpPr>
        <p:spPr>
          <a:xfrm>
            <a:off x="9144000" y="256032"/>
            <a:ext cx="2496312" cy="237744"/>
          </a:xfrm>
          <a:prstGeom prst="rect">
            <a:avLst/>
          </a:prstGeom>
          <a:noFill/>
        </p:spPr>
        <p:txBody>
          <a:bodyPr wrap="square" lIns="13716" rIns="13716" tIns="13716" bIns="13716" anchor="t">
            <a:spAutoFit/>
          </a:bodyPr>
          <a:lstStyle/>
          <a:p>
            <a:pPr algn="r">
              <a:spcAft>
                <a:spcPts val="0"/>
              </a:spcAft>
              <a:defRPr sz="1000" b="1">
                <a:solidFill>
                  <a:srgbClr val="5B6F63"/>
                </a:solidFill>
                <a:latin typeface="Aptos"/>
              </a:defRPr>
            </a:pPr>
            <a:r>
              <a:t>WORKING WORKFLOW</a:t>
            </a:r>
          </a:p>
        </p:txBody>
      </p:sp>
      <p:sp>
        <p:nvSpPr>
          <p:cNvPr id="5" name="TextBox 4"/>
          <p:cNvSpPr txBox="1"/>
          <p:nvPr/>
        </p:nvSpPr>
        <p:spPr>
          <a:xfrm>
            <a:off x="502920" y="640080"/>
            <a:ext cx="11064240" cy="530352"/>
          </a:xfrm>
          <a:prstGeom prst="rect">
            <a:avLst/>
          </a:prstGeom>
          <a:noFill/>
        </p:spPr>
        <p:txBody>
          <a:bodyPr wrap="square" lIns="13716" rIns="13716" tIns="13716" bIns="13716" anchor="t">
            <a:spAutoFit/>
          </a:bodyPr>
          <a:lstStyle/>
          <a:p>
            <a:pPr>
              <a:spcAft>
                <a:spcPts val="0"/>
              </a:spcAft>
              <a:defRPr sz="3000" b="1">
                <a:solidFill>
                  <a:srgbClr val="20362E"/>
                </a:solidFill>
                <a:latin typeface="Aptos"/>
              </a:defRPr>
            </a:pPr>
            <a:r>
              <a:t>One job becomes one traceable agreement</a:t>
            </a:r>
          </a:p>
        </p:txBody>
      </p:sp>
      <p:sp>
        <p:nvSpPr>
          <p:cNvPr id="6" name="TextBox 5"/>
          <p:cNvSpPr txBox="1"/>
          <p:nvPr/>
        </p:nvSpPr>
        <p:spPr>
          <a:xfrm>
            <a:off x="521207" y="1234440"/>
            <a:ext cx="10972800" cy="411480"/>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The same workflow is visible from two different accounts.</a:t>
            </a:r>
          </a:p>
        </p:txBody>
      </p:sp>
      <p:cxnSp>
        <p:nvCxnSpPr>
          <p:cNvPr id="7" name="Connector 6"/>
          <p:cNvCxnSpPr/>
          <p:nvPr/>
        </p:nvCxnSpPr>
        <p:spPr>
          <a:xfrm>
            <a:off x="502920" y="6501384"/>
            <a:ext cx="11183112" cy="0"/>
          </a:xfrm>
          <a:prstGeom prst="line">
            <a:avLst/>
          </a:prstGeom>
          <a:ln w="12700">
            <a:solidFill>
              <a:srgbClr val="CDD8CD"/>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12064" y="6556248"/>
            <a:ext cx="6400800" cy="182880"/>
          </a:xfrm>
          <a:prstGeom prst="rect">
            <a:avLst/>
          </a:prstGeom>
          <a:noFill/>
        </p:spPr>
        <p:txBody>
          <a:bodyPr wrap="square" lIns="13716" rIns="13716" tIns="13716" bIns="13716" anchor="t">
            <a:spAutoFit/>
          </a:bodyPr>
          <a:lstStyle/>
          <a:p>
            <a:pPr>
              <a:spcAft>
                <a:spcPts val="0"/>
              </a:spcAft>
              <a:defRPr sz="900" b="0">
                <a:solidFill>
                  <a:srgbClr val="5B6F63"/>
                </a:solidFill>
                <a:latin typeface="Aptos"/>
              </a:defRPr>
            </a:pPr>
            <a:r>
              <a:t>SkillCraft  •  database systems prototype</a:t>
            </a:r>
          </a:p>
        </p:txBody>
      </p:sp>
      <p:sp>
        <p:nvSpPr>
          <p:cNvPr id="9" name="TextBox 8"/>
          <p:cNvSpPr txBox="1"/>
          <p:nvPr/>
        </p:nvSpPr>
        <p:spPr>
          <a:xfrm>
            <a:off x="11082528" y="6547104"/>
            <a:ext cx="548640" cy="182880"/>
          </a:xfrm>
          <a:prstGeom prst="rect">
            <a:avLst/>
          </a:prstGeom>
          <a:noFill/>
        </p:spPr>
        <p:txBody>
          <a:bodyPr wrap="square" lIns="13716" rIns="13716" tIns="13716" bIns="13716" anchor="t">
            <a:spAutoFit/>
          </a:bodyPr>
          <a:lstStyle/>
          <a:p>
            <a:pPr algn="r">
              <a:spcAft>
                <a:spcPts val="0"/>
              </a:spcAft>
              <a:defRPr sz="900" b="0">
                <a:solidFill>
                  <a:srgbClr val="5B6F63"/>
                </a:solidFill>
                <a:latin typeface="Aptos"/>
              </a:defRPr>
            </a:pPr>
            <a:r>
              <a:t>03</a:t>
            </a:r>
          </a:p>
        </p:txBody>
      </p:sp>
      <p:sp>
        <p:nvSpPr>
          <p:cNvPr id="10" name="Rounded Rectangle 9"/>
          <p:cNvSpPr/>
          <p:nvPr/>
        </p:nvSpPr>
        <p:spPr>
          <a:xfrm>
            <a:off x="566928" y="1847088"/>
            <a:ext cx="3493008" cy="1673352"/>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1847088"/>
            <a:ext cx="64008" cy="1673352"/>
          </a:xfrm>
          <a:prstGeom prst="rect">
            <a:avLst/>
          </a:prstGeom>
          <a:solidFill>
            <a:srgbClr val="42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020824"/>
            <a:ext cx="3035808" cy="365760"/>
          </a:xfrm>
          <a:prstGeom prst="rect">
            <a:avLst/>
          </a:prstGeom>
          <a:noFill/>
        </p:spPr>
        <p:txBody>
          <a:bodyPr wrap="square" lIns="13716" rIns="13716" tIns="13716" bIns="13716" anchor="t">
            <a:spAutoFit/>
          </a:bodyPr>
          <a:lstStyle/>
          <a:p>
            <a:pPr>
              <a:spcAft>
                <a:spcPts val="0"/>
              </a:spcAft>
              <a:defRPr sz="1700" b="1">
                <a:solidFill>
                  <a:srgbClr val="20362E"/>
                </a:solidFill>
                <a:latin typeface="Aptos"/>
              </a:defRPr>
            </a:pPr>
            <a:r>
              <a:t>1  POST</a:t>
            </a:r>
          </a:p>
        </p:txBody>
      </p:sp>
      <p:sp>
        <p:nvSpPr>
          <p:cNvPr id="13" name="TextBox 12"/>
          <p:cNvSpPr txBox="1"/>
          <p:nvPr/>
        </p:nvSpPr>
        <p:spPr>
          <a:xfrm>
            <a:off x="804672" y="2487168"/>
            <a:ext cx="3017520" cy="941832"/>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Employer adds a brief, location and budget.</a:t>
            </a:r>
          </a:p>
        </p:txBody>
      </p:sp>
      <p:sp>
        <p:nvSpPr>
          <p:cNvPr id="14" name="Rounded Rectangle 13"/>
          <p:cNvSpPr/>
          <p:nvPr/>
        </p:nvSpPr>
        <p:spPr>
          <a:xfrm>
            <a:off x="4434840" y="1847088"/>
            <a:ext cx="3493008" cy="1673352"/>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34840" y="1847088"/>
            <a:ext cx="64008" cy="1673352"/>
          </a:xfrm>
          <a:prstGeom prst="rect">
            <a:avLst/>
          </a:prstGeom>
          <a:solidFill>
            <a:srgbClr val="42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72584" y="2020824"/>
            <a:ext cx="3035808" cy="365760"/>
          </a:xfrm>
          <a:prstGeom prst="rect">
            <a:avLst/>
          </a:prstGeom>
          <a:noFill/>
        </p:spPr>
        <p:txBody>
          <a:bodyPr wrap="square" lIns="13716" rIns="13716" tIns="13716" bIns="13716" anchor="t">
            <a:spAutoFit/>
          </a:bodyPr>
          <a:lstStyle/>
          <a:p>
            <a:pPr>
              <a:spcAft>
                <a:spcPts val="0"/>
              </a:spcAft>
              <a:defRPr sz="1700" b="1">
                <a:solidFill>
                  <a:srgbClr val="20362E"/>
                </a:solidFill>
                <a:latin typeface="Aptos"/>
              </a:defRPr>
            </a:pPr>
            <a:r>
              <a:t>2  DISCOVER</a:t>
            </a:r>
          </a:p>
        </p:txBody>
      </p:sp>
      <p:sp>
        <p:nvSpPr>
          <p:cNvPr id="17" name="TextBox 16"/>
          <p:cNvSpPr txBox="1"/>
          <p:nvPr/>
        </p:nvSpPr>
        <p:spPr>
          <a:xfrm>
            <a:off x="4672584" y="2487168"/>
            <a:ext cx="3017520" cy="941832"/>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Artisan searches by skill and place.</a:t>
            </a:r>
          </a:p>
        </p:txBody>
      </p:sp>
      <p:sp>
        <p:nvSpPr>
          <p:cNvPr id="18" name="Rounded Rectangle 17"/>
          <p:cNvSpPr/>
          <p:nvPr/>
        </p:nvSpPr>
        <p:spPr>
          <a:xfrm>
            <a:off x="8302752" y="1847088"/>
            <a:ext cx="3493008" cy="1673352"/>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02752" y="1847088"/>
            <a:ext cx="64008" cy="1673352"/>
          </a:xfrm>
          <a:prstGeom prst="rect">
            <a:avLst/>
          </a:prstGeom>
          <a:solidFill>
            <a:srgbClr val="42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40496" y="2020824"/>
            <a:ext cx="3035808" cy="365760"/>
          </a:xfrm>
          <a:prstGeom prst="rect">
            <a:avLst/>
          </a:prstGeom>
          <a:noFill/>
        </p:spPr>
        <p:txBody>
          <a:bodyPr wrap="square" lIns="13716" rIns="13716" tIns="13716" bIns="13716" anchor="t">
            <a:spAutoFit/>
          </a:bodyPr>
          <a:lstStyle/>
          <a:p>
            <a:pPr>
              <a:spcAft>
                <a:spcPts val="0"/>
              </a:spcAft>
              <a:defRPr sz="1700" b="1">
                <a:solidFill>
                  <a:srgbClr val="20362E"/>
                </a:solidFill>
                <a:latin typeface="Aptos"/>
              </a:defRPr>
            </a:pPr>
            <a:r>
              <a:t>3  BID</a:t>
            </a:r>
          </a:p>
        </p:txBody>
      </p:sp>
      <p:sp>
        <p:nvSpPr>
          <p:cNvPr id="21" name="TextBox 20"/>
          <p:cNvSpPr txBox="1"/>
          <p:nvPr/>
        </p:nvSpPr>
        <p:spPr>
          <a:xfrm>
            <a:off x="8540496" y="2487168"/>
            <a:ext cx="3017520" cy="941832"/>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Artisan offers a price and optional note.</a:t>
            </a:r>
          </a:p>
        </p:txBody>
      </p:sp>
      <p:sp>
        <p:nvSpPr>
          <p:cNvPr id="22" name="Rounded Rectangle 21"/>
          <p:cNvSpPr/>
          <p:nvPr/>
        </p:nvSpPr>
        <p:spPr>
          <a:xfrm>
            <a:off x="566928" y="3877056"/>
            <a:ext cx="3493008" cy="1673352"/>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3877056"/>
            <a:ext cx="64008" cy="1673352"/>
          </a:xfrm>
          <a:prstGeom prst="rect">
            <a:avLst/>
          </a:prstGeom>
          <a:solidFill>
            <a:srgbClr val="A86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4050792"/>
            <a:ext cx="3035808" cy="365760"/>
          </a:xfrm>
          <a:prstGeom prst="rect">
            <a:avLst/>
          </a:prstGeom>
          <a:noFill/>
        </p:spPr>
        <p:txBody>
          <a:bodyPr wrap="square" lIns="13716" rIns="13716" tIns="13716" bIns="13716" anchor="t">
            <a:spAutoFit/>
          </a:bodyPr>
          <a:lstStyle/>
          <a:p>
            <a:pPr>
              <a:spcAft>
                <a:spcPts val="0"/>
              </a:spcAft>
              <a:defRPr sz="1700" b="1">
                <a:solidFill>
                  <a:srgbClr val="20362E"/>
                </a:solidFill>
                <a:latin typeface="Aptos"/>
              </a:defRPr>
            </a:pPr>
            <a:r>
              <a:t>4  SELECT</a:t>
            </a:r>
          </a:p>
        </p:txBody>
      </p:sp>
      <p:sp>
        <p:nvSpPr>
          <p:cNvPr id="25" name="TextBox 24"/>
          <p:cNvSpPr txBox="1"/>
          <p:nvPr/>
        </p:nvSpPr>
        <p:spPr>
          <a:xfrm>
            <a:off x="804672" y="4517136"/>
            <a:ext cx="3017520" cy="941832"/>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Employer accepts one bid; other bids close.</a:t>
            </a:r>
          </a:p>
        </p:txBody>
      </p:sp>
      <p:sp>
        <p:nvSpPr>
          <p:cNvPr id="26" name="Rounded Rectangle 25"/>
          <p:cNvSpPr/>
          <p:nvPr/>
        </p:nvSpPr>
        <p:spPr>
          <a:xfrm>
            <a:off x="4434840" y="3877056"/>
            <a:ext cx="3493008" cy="1673352"/>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34840" y="3877056"/>
            <a:ext cx="64008" cy="1673352"/>
          </a:xfrm>
          <a:prstGeom prst="rect">
            <a:avLst/>
          </a:prstGeom>
          <a:solidFill>
            <a:srgbClr val="A86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72584" y="4050792"/>
            <a:ext cx="3035808" cy="365760"/>
          </a:xfrm>
          <a:prstGeom prst="rect">
            <a:avLst/>
          </a:prstGeom>
          <a:noFill/>
        </p:spPr>
        <p:txBody>
          <a:bodyPr wrap="square" lIns="13716" rIns="13716" tIns="13716" bIns="13716" anchor="t">
            <a:spAutoFit/>
          </a:bodyPr>
          <a:lstStyle/>
          <a:p>
            <a:pPr>
              <a:spcAft>
                <a:spcPts val="0"/>
              </a:spcAft>
              <a:defRPr sz="1700" b="1">
                <a:solidFill>
                  <a:srgbClr val="20362E"/>
                </a:solidFill>
                <a:latin typeface="Aptos"/>
              </a:defRPr>
            </a:pPr>
            <a:r>
              <a:t>5  ACKNOWLEDGE</a:t>
            </a:r>
          </a:p>
        </p:txBody>
      </p:sp>
      <p:sp>
        <p:nvSpPr>
          <p:cNvPr id="29" name="TextBox 28"/>
          <p:cNvSpPr txBox="1"/>
          <p:nvPr/>
        </p:nvSpPr>
        <p:spPr>
          <a:xfrm>
            <a:off x="4672584" y="4517136"/>
            <a:ext cx="3017520" cy="941832"/>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Employer records payment sent; artisan confirms receipt.</a:t>
            </a:r>
          </a:p>
        </p:txBody>
      </p:sp>
      <p:sp>
        <p:nvSpPr>
          <p:cNvPr id="30" name="Rounded Rectangle 29"/>
          <p:cNvSpPr/>
          <p:nvPr/>
        </p:nvSpPr>
        <p:spPr>
          <a:xfrm>
            <a:off x="8302752" y="3877056"/>
            <a:ext cx="3493008" cy="1673352"/>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302752" y="3877056"/>
            <a:ext cx="64008" cy="1673352"/>
          </a:xfrm>
          <a:prstGeom prst="rect">
            <a:avLst/>
          </a:prstGeom>
          <a:solidFill>
            <a:srgbClr val="42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40496" y="4050792"/>
            <a:ext cx="3035808" cy="365760"/>
          </a:xfrm>
          <a:prstGeom prst="rect">
            <a:avLst/>
          </a:prstGeom>
          <a:noFill/>
        </p:spPr>
        <p:txBody>
          <a:bodyPr wrap="square" lIns="13716" rIns="13716" tIns="13716" bIns="13716" anchor="t">
            <a:spAutoFit/>
          </a:bodyPr>
          <a:lstStyle/>
          <a:p>
            <a:pPr>
              <a:spcAft>
                <a:spcPts val="0"/>
              </a:spcAft>
              <a:defRPr sz="1700" b="1">
                <a:solidFill>
                  <a:srgbClr val="20362E"/>
                </a:solidFill>
                <a:latin typeface="Aptos"/>
              </a:defRPr>
            </a:pPr>
            <a:r>
              <a:t>6  REVIEW</a:t>
            </a:r>
          </a:p>
        </p:txBody>
      </p:sp>
      <p:sp>
        <p:nvSpPr>
          <p:cNvPr id="33" name="TextBox 32"/>
          <p:cNvSpPr txBox="1"/>
          <p:nvPr/>
        </p:nvSpPr>
        <p:spPr>
          <a:xfrm>
            <a:off x="8540496" y="4517136"/>
            <a:ext cx="3017520" cy="941832"/>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Paid contract receives a review and updates trust score.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4937760" cy="237744"/>
          </a:xfrm>
          <a:prstGeom prst="rect">
            <a:avLst/>
          </a:prstGeom>
          <a:noFill/>
        </p:spPr>
        <p:txBody>
          <a:bodyPr wrap="square" lIns="13716" rIns="13716" tIns="13716" bIns="13716" anchor="t">
            <a:spAutoFit/>
          </a:bodyPr>
          <a:lstStyle/>
          <a:p>
            <a:pPr>
              <a:spcAft>
                <a:spcPts val="0"/>
              </a:spcAft>
              <a:defRPr sz="1000" b="1">
                <a:solidFill>
                  <a:srgbClr val="426A54"/>
                </a:solidFill>
                <a:latin typeface="Aptos"/>
              </a:defRPr>
            </a:pPr>
            <a:r>
              <a:t>SKILLCRAFT  /  DBTHON 2026</a:t>
            </a:r>
          </a:p>
        </p:txBody>
      </p:sp>
      <p:sp>
        <p:nvSpPr>
          <p:cNvPr id="4" name="TextBox 3"/>
          <p:cNvSpPr txBox="1"/>
          <p:nvPr/>
        </p:nvSpPr>
        <p:spPr>
          <a:xfrm>
            <a:off x="9144000" y="256032"/>
            <a:ext cx="2496312" cy="237744"/>
          </a:xfrm>
          <a:prstGeom prst="rect">
            <a:avLst/>
          </a:prstGeom>
          <a:noFill/>
        </p:spPr>
        <p:txBody>
          <a:bodyPr wrap="square" lIns="13716" rIns="13716" tIns="13716" bIns="13716" anchor="t">
            <a:spAutoFit/>
          </a:bodyPr>
          <a:lstStyle/>
          <a:p>
            <a:pPr algn="r">
              <a:spcAft>
                <a:spcPts val="0"/>
              </a:spcAft>
              <a:defRPr sz="1000" b="1">
                <a:solidFill>
                  <a:srgbClr val="5B6F63"/>
                </a:solidFill>
                <a:latin typeface="Aptos"/>
              </a:defRPr>
            </a:pPr>
            <a:r>
              <a:t>PROTOTYPE</a:t>
            </a:r>
          </a:p>
        </p:txBody>
      </p:sp>
      <p:sp>
        <p:nvSpPr>
          <p:cNvPr id="5" name="TextBox 4"/>
          <p:cNvSpPr txBox="1"/>
          <p:nvPr/>
        </p:nvSpPr>
        <p:spPr>
          <a:xfrm>
            <a:off x="502920" y="640080"/>
            <a:ext cx="11064240" cy="530352"/>
          </a:xfrm>
          <a:prstGeom prst="rect">
            <a:avLst/>
          </a:prstGeom>
          <a:noFill/>
        </p:spPr>
        <p:txBody>
          <a:bodyPr wrap="square" lIns="13716" rIns="13716" tIns="13716" bIns="13716" anchor="t">
            <a:spAutoFit/>
          </a:bodyPr>
          <a:lstStyle/>
          <a:p>
            <a:pPr>
              <a:spcAft>
                <a:spcPts val="0"/>
              </a:spcAft>
              <a:defRPr sz="3000" b="1">
                <a:solidFill>
                  <a:srgbClr val="20362E"/>
                </a:solidFill>
                <a:latin typeface="Aptos"/>
              </a:defRPr>
            </a:pPr>
            <a:r>
              <a:t>Each account sees the work relevant to it</a:t>
            </a:r>
          </a:p>
        </p:txBody>
      </p:sp>
      <p:sp>
        <p:nvSpPr>
          <p:cNvPr id="6" name="TextBox 5"/>
          <p:cNvSpPr txBox="1"/>
          <p:nvPr/>
        </p:nvSpPr>
        <p:spPr>
          <a:xfrm>
            <a:off x="521207" y="1234440"/>
            <a:ext cx="10972800" cy="411480"/>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The roles share the same underlying job and contract, but their menus and actions differ.</a:t>
            </a:r>
          </a:p>
        </p:txBody>
      </p:sp>
      <p:cxnSp>
        <p:nvCxnSpPr>
          <p:cNvPr id="7" name="Connector 6"/>
          <p:cNvCxnSpPr/>
          <p:nvPr/>
        </p:nvCxnSpPr>
        <p:spPr>
          <a:xfrm>
            <a:off x="502920" y="6501384"/>
            <a:ext cx="11183112" cy="0"/>
          </a:xfrm>
          <a:prstGeom prst="line">
            <a:avLst/>
          </a:prstGeom>
          <a:ln w="12700">
            <a:solidFill>
              <a:srgbClr val="CDD8CD"/>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12064" y="6556248"/>
            <a:ext cx="6400800" cy="182880"/>
          </a:xfrm>
          <a:prstGeom prst="rect">
            <a:avLst/>
          </a:prstGeom>
          <a:noFill/>
        </p:spPr>
        <p:txBody>
          <a:bodyPr wrap="square" lIns="13716" rIns="13716" tIns="13716" bIns="13716" anchor="t">
            <a:spAutoFit/>
          </a:bodyPr>
          <a:lstStyle/>
          <a:p>
            <a:pPr>
              <a:spcAft>
                <a:spcPts val="0"/>
              </a:spcAft>
              <a:defRPr sz="900" b="0">
                <a:solidFill>
                  <a:srgbClr val="5B6F63"/>
                </a:solidFill>
                <a:latin typeface="Aptos"/>
              </a:defRPr>
            </a:pPr>
            <a:r>
              <a:t>SkillCraft  •  database systems prototype</a:t>
            </a:r>
          </a:p>
        </p:txBody>
      </p:sp>
      <p:sp>
        <p:nvSpPr>
          <p:cNvPr id="9" name="TextBox 8"/>
          <p:cNvSpPr txBox="1"/>
          <p:nvPr/>
        </p:nvSpPr>
        <p:spPr>
          <a:xfrm>
            <a:off x="11082528" y="6547104"/>
            <a:ext cx="548640" cy="182880"/>
          </a:xfrm>
          <a:prstGeom prst="rect">
            <a:avLst/>
          </a:prstGeom>
          <a:noFill/>
        </p:spPr>
        <p:txBody>
          <a:bodyPr wrap="square" lIns="13716" rIns="13716" tIns="13716" bIns="13716" anchor="t">
            <a:spAutoFit/>
          </a:bodyPr>
          <a:lstStyle/>
          <a:p>
            <a:pPr algn="r">
              <a:spcAft>
                <a:spcPts val="0"/>
              </a:spcAft>
              <a:defRPr sz="900" b="0">
                <a:solidFill>
                  <a:srgbClr val="5B6F63"/>
                </a:solidFill>
                <a:latin typeface="Aptos"/>
              </a:defRPr>
            </a:pPr>
            <a:r>
              <a:t>04</a:t>
            </a:r>
          </a:p>
        </p:txBody>
      </p:sp>
      <p:sp>
        <p:nvSpPr>
          <p:cNvPr id="10" name="Rounded Rectangle 9"/>
          <p:cNvSpPr/>
          <p:nvPr/>
        </p:nvSpPr>
        <p:spPr>
          <a:xfrm>
            <a:off x="640080" y="1856231"/>
            <a:ext cx="5266944" cy="3337560"/>
          </a:xfrm>
          <a:prstGeom prst="roundRect">
            <a:avLst>
              <a:gd name="adj" fmla="val 6000"/>
            </a:avLst>
          </a:prstGeom>
          <a:solidFill>
            <a:srgbClr val="EEE7DE"/>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1856231"/>
            <a:ext cx="64008" cy="3337560"/>
          </a:xfrm>
          <a:prstGeom prst="rect">
            <a:avLst/>
          </a:prstGeom>
          <a:solidFill>
            <a:srgbClr val="A86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2029967"/>
            <a:ext cx="4809744" cy="365760"/>
          </a:xfrm>
          <a:prstGeom prst="rect">
            <a:avLst/>
          </a:prstGeom>
          <a:noFill/>
        </p:spPr>
        <p:txBody>
          <a:bodyPr wrap="square" lIns="13716" rIns="13716" tIns="13716" bIns="13716" anchor="t">
            <a:spAutoFit/>
          </a:bodyPr>
          <a:lstStyle/>
          <a:p>
            <a:pPr>
              <a:spcAft>
                <a:spcPts val="0"/>
              </a:spcAft>
              <a:defRPr sz="2000" b="1">
                <a:solidFill>
                  <a:srgbClr val="20362E"/>
                </a:solidFill>
                <a:latin typeface="Aptos"/>
              </a:defRPr>
            </a:pPr>
            <a:r>
              <a:t>EMPLOYER  /  RAMESH</a:t>
            </a:r>
          </a:p>
        </p:txBody>
      </p:sp>
      <p:sp>
        <p:nvSpPr>
          <p:cNvPr id="13" name="TextBox 12"/>
          <p:cNvSpPr txBox="1"/>
          <p:nvPr/>
        </p:nvSpPr>
        <p:spPr>
          <a:xfrm>
            <a:off x="877824" y="2496311"/>
            <a:ext cx="4791456" cy="2606039"/>
          </a:xfrm>
          <a:prstGeom prst="rect">
            <a:avLst/>
          </a:prstGeom>
          <a:noFill/>
        </p:spPr>
        <p:txBody>
          <a:bodyPr wrap="square" lIns="13716" rIns="13716" tIns="13716" bIns="13716" anchor="t">
            <a:spAutoFit/>
          </a:bodyPr>
          <a:lstStyle/>
          <a:p>
            <a:pPr>
              <a:spcAft>
                <a:spcPts val="0"/>
              </a:spcAft>
              <a:defRPr sz="1700" b="0">
                <a:solidFill>
                  <a:srgbClr val="5B6F63"/>
                </a:solidFill>
                <a:latin typeface="Aptos"/>
              </a:defRPr>
            </a:pPr>
            <a:r>
              <a:t>Hiring overview</a:t>
            </a:r>
          </a:p>
          <a:p>
            <a:pPr>
              <a:spcAft>
                <a:spcPts val="0"/>
              </a:spcAft>
              <a:defRPr sz="1700" b="0">
                <a:solidFill>
                  <a:srgbClr val="5B6F63"/>
                </a:solidFill>
                <a:latin typeface="Aptos"/>
              </a:defRPr>
            </a:pPr>
            <a:r>
              <a:t>Post a job and inspect bids</a:t>
            </a:r>
          </a:p>
          <a:p>
            <a:pPr>
              <a:spcAft>
                <a:spcPts val="0"/>
              </a:spcAft>
              <a:defRPr sz="1700" b="0">
                <a:solidFill>
                  <a:srgbClr val="5B6F63"/>
                </a:solidFill>
                <a:latin typeface="Aptos"/>
              </a:defRPr>
            </a:pPr>
            <a:r>
              <a:t>Accept or decline an offer</a:t>
            </a:r>
          </a:p>
          <a:p>
            <a:pPr>
              <a:spcAft>
                <a:spcPts val="0"/>
              </a:spcAft>
              <a:defRPr sz="1700" b="0">
                <a:solidFill>
                  <a:srgbClr val="5B6F63"/>
                </a:solidFill>
                <a:latin typeface="Aptos"/>
              </a:defRPr>
            </a:pPr>
            <a:r>
              <a:t>Record payment sent</a:t>
            </a:r>
          </a:p>
          <a:p>
            <a:pPr>
              <a:spcAft>
                <a:spcPts val="0"/>
              </a:spcAft>
              <a:defRPr sz="1700" b="0">
                <a:solidFill>
                  <a:srgbClr val="5B6F63"/>
                </a:solidFill>
                <a:latin typeface="Aptos"/>
              </a:defRPr>
            </a:pPr>
            <a:r>
              <a:t>Review a paid contract</a:t>
            </a:r>
          </a:p>
        </p:txBody>
      </p:sp>
      <p:sp>
        <p:nvSpPr>
          <p:cNvPr id="14" name="Rounded Rectangle 13"/>
          <p:cNvSpPr/>
          <p:nvPr/>
        </p:nvSpPr>
        <p:spPr>
          <a:xfrm>
            <a:off x="6281928" y="1856231"/>
            <a:ext cx="5266944" cy="3337560"/>
          </a:xfrm>
          <a:prstGeom prst="roundRect">
            <a:avLst>
              <a:gd name="adj" fmla="val 6000"/>
            </a:avLst>
          </a:prstGeom>
          <a:solidFill>
            <a:srgbClr val="E4ECE4"/>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81928" y="1856231"/>
            <a:ext cx="64008" cy="3337560"/>
          </a:xfrm>
          <a:prstGeom prst="rect">
            <a:avLst/>
          </a:prstGeom>
          <a:solidFill>
            <a:srgbClr val="42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9672" y="2029967"/>
            <a:ext cx="4809744" cy="365760"/>
          </a:xfrm>
          <a:prstGeom prst="rect">
            <a:avLst/>
          </a:prstGeom>
          <a:noFill/>
        </p:spPr>
        <p:txBody>
          <a:bodyPr wrap="square" lIns="13716" rIns="13716" tIns="13716" bIns="13716" anchor="t">
            <a:spAutoFit/>
          </a:bodyPr>
          <a:lstStyle/>
          <a:p>
            <a:pPr>
              <a:spcAft>
                <a:spcPts val="0"/>
              </a:spcAft>
              <a:defRPr sz="2000" b="1">
                <a:solidFill>
                  <a:srgbClr val="20362E"/>
                </a:solidFill>
                <a:latin typeface="Aptos"/>
              </a:defRPr>
            </a:pPr>
            <a:r>
              <a:t>ARTISAN  /  LAKSHMI</a:t>
            </a:r>
          </a:p>
        </p:txBody>
      </p:sp>
      <p:sp>
        <p:nvSpPr>
          <p:cNvPr id="17" name="TextBox 16"/>
          <p:cNvSpPr txBox="1"/>
          <p:nvPr/>
        </p:nvSpPr>
        <p:spPr>
          <a:xfrm>
            <a:off x="6519672" y="2496311"/>
            <a:ext cx="4791456" cy="2606039"/>
          </a:xfrm>
          <a:prstGeom prst="rect">
            <a:avLst/>
          </a:prstGeom>
          <a:noFill/>
        </p:spPr>
        <p:txBody>
          <a:bodyPr wrap="square" lIns="13716" rIns="13716" tIns="13716" bIns="13716" anchor="t">
            <a:spAutoFit/>
          </a:bodyPr>
          <a:lstStyle/>
          <a:p>
            <a:pPr>
              <a:spcAft>
                <a:spcPts val="0"/>
              </a:spcAft>
              <a:defRPr sz="1700" b="0">
                <a:solidFill>
                  <a:srgbClr val="5B6F63"/>
                </a:solidFill>
                <a:latin typeface="Aptos"/>
              </a:defRPr>
            </a:pPr>
            <a:r>
              <a:t>My workspace</a:t>
            </a:r>
          </a:p>
          <a:p>
            <a:pPr>
              <a:spcAft>
                <a:spcPts val="0"/>
              </a:spcAft>
              <a:defRPr sz="1700" b="0">
                <a:solidFill>
                  <a:srgbClr val="5B6F63"/>
                </a:solidFill>
                <a:latin typeface="Aptos"/>
              </a:defRPr>
            </a:pPr>
            <a:r>
              <a:t>Find work and submit a bid</a:t>
            </a:r>
          </a:p>
          <a:p>
            <a:pPr>
              <a:spcAft>
                <a:spcPts val="0"/>
              </a:spcAft>
              <a:defRPr sz="1700" b="0">
                <a:solidFill>
                  <a:srgbClr val="5B6F63"/>
                </a:solidFill>
                <a:latin typeface="Aptos"/>
              </a:defRPr>
            </a:pPr>
            <a:r>
              <a:t>Track bid status</a:t>
            </a:r>
          </a:p>
          <a:p>
            <a:pPr>
              <a:spcAft>
                <a:spcPts val="0"/>
              </a:spcAft>
              <a:defRPr sz="1700" b="0">
                <a:solidFill>
                  <a:srgbClr val="5B6F63"/>
                </a:solidFill>
                <a:latin typeface="Aptos"/>
              </a:defRPr>
            </a:pPr>
            <a:r>
              <a:t>Confirm payment received</a:t>
            </a:r>
          </a:p>
          <a:p>
            <a:pPr>
              <a:spcAft>
                <a:spcPts val="0"/>
              </a:spcAft>
              <a:defRPr sz="1700" b="0">
                <a:solidFill>
                  <a:srgbClr val="5B6F63"/>
                </a:solidFill>
                <a:latin typeface="Aptos"/>
              </a:defRPr>
            </a:pPr>
            <a:r>
              <a:t>See agreements and reviews</a:t>
            </a:r>
          </a:p>
        </p:txBody>
      </p:sp>
      <p:sp>
        <p:nvSpPr>
          <p:cNvPr id="18" name="TextBox 17"/>
          <p:cNvSpPr txBox="1"/>
          <p:nvPr/>
        </p:nvSpPr>
        <p:spPr>
          <a:xfrm>
            <a:off x="932688" y="5623560"/>
            <a:ext cx="10469880" cy="429768"/>
          </a:xfrm>
          <a:prstGeom prst="rect">
            <a:avLst/>
          </a:prstGeom>
          <a:noFill/>
        </p:spPr>
        <p:txBody>
          <a:bodyPr wrap="square" lIns="13716" rIns="13716" tIns="13716" bIns="13716" anchor="t">
            <a:spAutoFit/>
          </a:bodyPr>
          <a:lstStyle/>
          <a:p>
            <a:pPr algn="ctr">
              <a:spcAft>
                <a:spcPts val="0"/>
              </a:spcAft>
              <a:defRPr sz="1600" b="0">
                <a:solidFill>
                  <a:srgbClr val="5B6F63"/>
                </a:solidFill>
                <a:latin typeface="Aptos"/>
              </a:defRPr>
            </a:pPr>
            <a:r>
              <a:t>The API also checks the role and ownership; the database applies row-level rules for private bids, contracts and events.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4937760" cy="237744"/>
          </a:xfrm>
          <a:prstGeom prst="rect">
            <a:avLst/>
          </a:prstGeom>
          <a:noFill/>
        </p:spPr>
        <p:txBody>
          <a:bodyPr wrap="square" lIns="13716" rIns="13716" tIns="13716" bIns="13716" anchor="t">
            <a:spAutoFit/>
          </a:bodyPr>
          <a:lstStyle/>
          <a:p>
            <a:pPr>
              <a:spcAft>
                <a:spcPts val="0"/>
              </a:spcAft>
              <a:defRPr sz="1000" b="1">
                <a:solidFill>
                  <a:srgbClr val="426A54"/>
                </a:solidFill>
                <a:latin typeface="Aptos"/>
              </a:defRPr>
            </a:pPr>
            <a:r>
              <a:t>SKILLCRAFT  /  DBTHON 2026</a:t>
            </a:r>
          </a:p>
        </p:txBody>
      </p:sp>
      <p:sp>
        <p:nvSpPr>
          <p:cNvPr id="4" name="TextBox 3"/>
          <p:cNvSpPr txBox="1"/>
          <p:nvPr/>
        </p:nvSpPr>
        <p:spPr>
          <a:xfrm>
            <a:off x="9144000" y="256032"/>
            <a:ext cx="2496312" cy="237744"/>
          </a:xfrm>
          <a:prstGeom prst="rect">
            <a:avLst/>
          </a:prstGeom>
          <a:noFill/>
        </p:spPr>
        <p:txBody>
          <a:bodyPr wrap="square" lIns="13716" rIns="13716" tIns="13716" bIns="13716" anchor="t">
            <a:spAutoFit/>
          </a:bodyPr>
          <a:lstStyle/>
          <a:p>
            <a:pPr algn="r">
              <a:spcAft>
                <a:spcPts val="0"/>
              </a:spcAft>
              <a:defRPr sz="1000" b="1">
                <a:solidFill>
                  <a:srgbClr val="5B6F63"/>
                </a:solidFill>
                <a:latin typeface="Aptos"/>
              </a:defRPr>
            </a:pPr>
            <a:r>
              <a:t>DBMS IMPLEMENTATION · 5 MARKS</a:t>
            </a:r>
          </a:p>
        </p:txBody>
      </p:sp>
      <p:sp>
        <p:nvSpPr>
          <p:cNvPr id="5" name="TextBox 4"/>
          <p:cNvSpPr txBox="1"/>
          <p:nvPr/>
        </p:nvSpPr>
        <p:spPr>
          <a:xfrm>
            <a:off x="502920" y="640080"/>
            <a:ext cx="11064240" cy="530352"/>
          </a:xfrm>
          <a:prstGeom prst="rect">
            <a:avLst/>
          </a:prstGeom>
          <a:noFill/>
        </p:spPr>
        <p:txBody>
          <a:bodyPr wrap="square" lIns="13716" rIns="13716" tIns="13716" bIns="13716" anchor="t">
            <a:spAutoFit/>
          </a:bodyPr>
          <a:lstStyle/>
          <a:p>
            <a:pPr>
              <a:spcAft>
                <a:spcPts val="0"/>
              </a:spcAft>
              <a:defRPr sz="3000" b="1">
                <a:solidFill>
                  <a:srgbClr val="20362E"/>
                </a:solidFill>
                <a:latin typeface="Aptos"/>
              </a:defRPr>
            </a:pPr>
            <a:r>
              <a:t>The database does the critical work</a:t>
            </a:r>
          </a:p>
        </p:txBody>
      </p:sp>
      <p:sp>
        <p:nvSpPr>
          <p:cNvPr id="6" name="TextBox 5"/>
          <p:cNvSpPr txBox="1"/>
          <p:nvPr/>
        </p:nvSpPr>
        <p:spPr>
          <a:xfrm>
            <a:off x="521207" y="1234440"/>
            <a:ext cx="10972800" cy="411480"/>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A plain-language map of the technology stack.</a:t>
            </a:r>
          </a:p>
        </p:txBody>
      </p:sp>
      <p:cxnSp>
        <p:nvCxnSpPr>
          <p:cNvPr id="7" name="Connector 6"/>
          <p:cNvCxnSpPr/>
          <p:nvPr/>
        </p:nvCxnSpPr>
        <p:spPr>
          <a:xfrm>
            <a:off x="502920" y="6501384"/>
            <a:ext cx="11183112" cy="0"/>
          </a:xfrm>
          <a:prstGeom prst="line">
            <a:avLst/>
          </a:prstGeom>
          <a:ln w="12700">
            <a:solidFill>
              <a:srgbClr val="CDD8CD"/>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12064" y="6556248"/>
            <a:ext cx="6400800" cy="182880"/>
          </a:xfrm>
          <a:prstGeom prst="rect">
            <a:avLst/>
          </a:prstGeom>
          <a:noFill/>
        </p:spPr>
        <p:txBody>
          <a:bodyPr wrap="square" lIns="13716" rIns="13716" tIns="13716" bIns="13716" anchor="t">
            <a:spAutoFit/>
          </a:bodyPr>
          <a:lstStyle/>
          <a:p>
            <a:pPr>
              <a:spcAft>
                <a:spcPts val="0"/>
              </a:spcAft>
              <a:defRPr sz="900" b="0">
                <a:solidFill>
                  <a:srgbClr val="5B6F63"/>
                </a:solidFill>
                <a:latin typeface="Aptos"/>
              </a:defRPr>
            </a:pPr>
            <a:r>
              <a:t>SkillCraft  •  database systems prototype</a:t>
            </a:r>
          </a:p>
        </p:txBody>
      </p:sp>
      <p:sp>
        <p:nvSpPr>
          <p:cNvPr id="9" name="TextBox 8"/>
          <p:cNvSpPr txBox="1"/>
          <p:nvPr/>
        </p:nvSpPr>
        <p:spPr>
          <a:xfrm>
            <a:off x="11082528" y="6547104"/>
            <a:ext cx="548640" cy="182880"/>
          </a:xfrm>
          <a:prstGeom prst="rect">
            <a:avLst/>
          </a:prstGeom>
          <a:noFill/>
        </p:spPr>
        <p:txBody>
          <a:bodyPr wrap="square" lIns="13716" rIns="13716" tIns="13716" bIns="13716" anchor="t">
            <a:spAutoFit/>
          </a:bodyPr>
          <a:lstStyle/>
          <a:p>
            <a:pPr algn="r">
              <a:spcAft>
                <a:spcPts val="0"/>
              </a:spcAft>
              <a:defRPr sz="900" b="0">
                <a:solidFill>
                  <a:srgbClr val="5B6F63"/>
                </a:solidFill>
                <a:latin typeface="Aptos"/>
              </a:defRPr>
            </a:pPr>
            <a:r>
              <a:t>05</a:t>
            </a:r>
          </a:p>
        </p:txBody>
      </p:sp>
      <p:sp>
        <p:nvSpPr>
          <p:cNvPr id="10" name="Rounded Rectangle 9"/>
          <p:cNvSpPr/>
          <p:nvPr/>
        </p:nvSpPr>
        <p:spPr>
          <a:xfrm>
            <a:off x="713232" y="2221992"/>
            <a:ext cx="3145536" cy="2112264"/>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587752"/>
            <a:ext cx="2724912" cy="457200"/>
          </a:xfrm>
          <a:prstGeom prst="rect">
            <a:avLst/>
          </a:prstGeom>
          <a:noFill/>
        </p:spPr>
        <p:txBody>
          <a:bodyPr wrap="square" lIns="13716" rIns="13716" tIns="13716" bIns="13716" anchor="t">
            <a:spAutoFit/>
          </a:bodyPr>
          <a:lstStyle/>
          <a:p>
            <a:pPr algn="ctr">
              <a:spcAft>
                <a:spcPts val="0"/>
              </a:spcAft>
              <a:defRPr sz="2200" b="1">
                <a:solidFill>
                  <a:srgbClr val="20362E"/>
                </a:solidFill>
                <a:latin typeface="Aptos"/>
              </a:defRPr>
            </a:pPr>
            <a:r>
              <a:t>React + Vite</a:t>
            </a:r>
          </a:p>
        </p:txBody>
      </p:sp>
      <p:sp>
        <p:nvSpPr>
          <p:cNvPr id="12" name="TextBox 11"/>
          <p:cNvSpPr txBox="1"/>
          <p:nvPr/>
        </p:nvSpPr>
        <p:spPr>
          <a:xfrm>
            <a:off x="932688" y="3264408"/>
            <a:ext cx="2734056" cy="612648"/>
          </a:xfrm>
          <a:prstGeom prst="rect">
            <a:avLst/>
          </a:prstGeom>
          <a:noFill/>
        </p:spPr>
        <p:txBody>
          <a:bodyPr wrap="square" lIns="13716" rIns="13716" tIns="13716" bIns="13716" anchor="t">
            <a:spAutoFit/>
          </a:bodyPr>
          <a:lstStyle/>
          <a:p>
            <a:pPr algn="ctr">
              <a:spcAft>
                <a:spcPts val="0"/>
              </a:spcAft>
              <a:defRPr sz="1700" b="0">
                <a:solidFill>
                  <a:srgbClr val="5B6F63"/>
                </a:solidFill>
                <a:latin typeface="Aptos"/>
              </a:defRPr>
            </a:pPr>
            <a:r>
              <a:t>Website pages and forms</a:t>
            </a:r>
          </a:p>
        </p:txBody>
      </p:sp>
      <p:sp>
        <p:nvSpPr>
          <p:cNvPr id="13" name="Rounded Rectangle 12"/>
          <p:cNvSpPr/>
          <p:nvPr/>
        </p:nvSpPr>
        <p:spPr>
          <a:xfrm>
            <a:off x="4535424" y="2221992"/>
            <a:ext cx="3145536" cy="2112264"/>
          </a:xfrm>
          <a:prstGeom prst="roundRect">
            <a:avLst>
              <a:gd name="adj" fmla="val 6000"/>
            </a:avLst>
          </a:prstGeom>
          <a:solidFill>
            <a:srgbClr val="EEE7DE"/>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64024" y="2587752"/>
            <a:ext cx="2724912" cy="457200"/>
          </a:xfrm>
          <a:prstGeom prst="rect">
            <a:avLst/>
          </a:prstGeom>
          <a:noFill/>
        </p:spPr>
        <p:txBody>
          <a:bodyPr wrap="square" lIns="13716" rIns="13716" tIns="13716" bIns="13716" anchor="t">
            <a:spAutoFit/>
          </a:bodyPr>
          <a:lstStyle/>
          <a:p>
            <a:pPr algn="ctr">
              <a:spcAft>
                <a:spcPts val="0"/>
              </a:spcAft>
              <a:defRPr sz="2200" b="1">
                <a:solidFill>
                  <a:srgbClr val="20362E"/>
                </a:solidFill>
                <a:latin typeface="Aptos"/>
              </a:defRPr>
            </a:pPr>
            <a:r>
              <a:t>Express API</a:t>
            </a:r>
          </a:p>
        </p:txBody>
      </p:sp>
      <p:sp>
        <p:nvSpPr>
          <p:cNvPr id="15" name="TextBox 14"/>
          <p:cNvSpPr txBox="1"/>
          <p:nvPr/>
        </p:nvSpPr>
        <p:spPr>
          <a:xfrm>
            <a:off x="4754880" y="3264408"/>
            <a:ext cx="2734056" cy="612648"/>
          </a:xfrm>
          <a:prstGeom prst="rect">
            <a:avLst/>
          </a:prstGeom>
          <a:noFill/>
        </p:spPr>
        <p:txBody>
          <a:bodyPr wrap="square" lIns="13716" rIns="13716" tIns="13716" bIns="13716" anchor="t">
            <a:spAutoFit/>
          </a:bodyPr>
          <a:lstStyle/>
          <a:p>
            <a:pPr algn="ctr">
              <a:spcAft>
                <a:spcPts val="0"/>
              </a:spcAft>
              <a:defRPr sz="1700" b="0">
                <a:solidFill>
                  <a:srgbClr val="5B6F63"/>
                </a:solidFill>
                <a:latin typeface="Aptos"/>
              </a:defRPr>
            </a:pPr>
            <a:r>
              <a:t>Login and request checks</a:t>
            </a:r>
          </a:p>
        </p:txBody>
      </p:sp>
      <p:sp>
        <p:nvSpPr>
          <p:cNvPr id="16" name="Rounded Rectangle 15"/>
          <p:cNvSpPr/>
          <p:nvPr/>
        </p:nvSpPr>
        <p:spPr>
          <a:xfrm>
            <a:off x="8357616" y="2221992"/>
            <a:ext cx="3145536" cy="2112264"/>
          </a:xfrm>
          <a:prstGeom prst="roundRect">
            <a:avLst>
              <a:gd name="adj" fmla="val 6000"/>
            </a:avLst>
          </a:prstGeom>
          <a:solidFill>
            <a:srgbClr val="E4ECE4"/>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86216" y="2587752"/>
            <a:ext cx="2724912" cy="457200"/>
          </a:xfrm>
          <a:prstGeom prst="rect">
            <a:avLst/>
          </a:prstGeom>
          <a:noFill/>
        </p:spPr>
        <p:txBody>
          <a:bodyPr wrap="square" lIns="13716" rIns="13716" tIns="13716" bIns="13716" anchor="t">
            <a:spAutoFit/>
          </a:bodyPr>
          <a:lstStyle/>
          <a:p>
            <a:pPr algn="ctr">
              <a:spcAft>
                <a:spcPts val="0"/>
              </a:spcAft>
              <a:defRPr sz="2200" b="1">
                <a:solidFill>
                  <a:srgbClr val="20362E"/>
                </a:solidFill>
                <a:latin typeface="Aptos"/>
              </a:defRPr>
            </a:pPr>
            <a:r>
              <a:t>PostgreSQL</a:t>
            </a:r>
          </a:p>
        </p:txBody>
      </p:sp>
      <p:sp>
        <p:nvSpPr>
          <p:cNvPr id="18" name="TextBox 17"/>
          <p:cNvSpPr txBox="1"/>
          <p:nvPr/>
        </p:nvSpPr>
        <p:spPr>
          <a:xfrm>
            <a:off x="8577072" y="3264408"/>
            <a:ext cx="2734056" cy="612648"/>
          </a:xfrm>
          <a:prstGeom prst="rect">
            <a:avLst/>
          </a:prstGeom>
          <a:noFill/>
        </p:spPr>
        <p:txBody>
          <a:bodyPr wrap="square" lIns="13716" rIns="13716" tIns="13716" bIns="13716" anchor="t">
            <a:spAutoFit/>
          </a:bodyPr>
          <a:lstStyle/>
          <a:p>
            <a:pPr algn="ctr">
              <a:spcAft>
                <a:spcPts val="0"/>
              </a:spcAft>
              <a:defRPr sz="1700" b="0">
                <a:solidFill>
                  <a:srgbClr val="5B6F63"/>
                </a:solidFill>
                <a:latin typeface="Aptos"/>
              </a:defRPr>
            </a:pPr>
            <a:r>
              <a:t>Records, rules and queries</a:t>
            </a:r>
          </a:p>
        </p:txBody>
      </p:sp>
      <p:sp>
        <p:nvSpPr>
          <p:cNvPr id="19" name="TextBox 18"/>
          <p:cNvSpPr txBox="1"/>
          <p:nvPr/>
        </p:nvSpPr>
        <p:spPr>
          <a:xfrm>
            <a:off x="4005072" y="2852928"/>
            <a:ext cx="420624" cy="512064"/>
          </a:xfrm>
          <a:prstGeom prst="rect">
            <a:avLst/>
          </a:prstGeom>
          <a:noFill/>
        </p:spPr>
        <p:txBody>
          <a:bodyPr wrap="square" lIns="13716" rIns="13716" tIns="13716" bIns="13716" anchor="t">
            <a:spAutoFit/>
          </a:bodyPr>
          <a:lstStyle/>
          <a:p>
            <a:pPr>
              <a:spcAft>
                <a:spcPts val="0"/>
              </a:spcAft>
              <a:defRPr sz="2900" b="1">
                <a:solidFill>
                  <a:srgbClr val="426A54"/>
                </a:solidFill>
                <a:latin typeface="Aptos"/>
              </a:defRPr>
            </a:pPr>
            <a:r>
              <a:t>→</a:t>
            </a:r>
          </a:p>
        </p:txBody>
      </p:sp>
      <p:sp>
        <p:nvSpPr>
          <p:cNvPr id="20" name="TextBox 19"/>
          <p:cNvSpPr txBox="1"/>
          <p:nvPr/>
        </p:nvSpPr>
        <p:spPr>
          <a:xfrm>
            <a:off x="7818120" y="2852928"/>
            <a:ext cx="420624" cy="512064"/>
          </a:xfrm>
          <a:prstGeom prst="rect">
            <a:avLst/>
          </a:prstGeom>
          <a:noFill/>
        </p:spPr>
        <p:txBody>
          <a:bodyPr wrap="square" lIns="13716" rIns="13716" tIns="13716" bIns="13716" anchor="t">
            <a:spAutoFit/>
          </a:bodyPr>
          <a:lstStyle/>
          <a:p>
            <a:pPr>
              <a:spcAft>
                <a:spcPts val="0"/>
              </a:spcAft>
              <a:defRPr sz="2900" b="1">
                <a:solidFill>
                  <a:srgbClr val="426A54"/>
                </a:solidFill>
                <a:latin typeface="Aptos"/>
              </a:defRPr>
            </a:pPr>
            <a:r>
              <a:t>→</a:t>
            </a:r>
          </a:p>
        </p:txBody>
      </p:sp>
      <p:sp>
        <p:nvSpPr>
          <p:cNvPr id="21" name="Rounded Rectangle 20"/>
          <p:cNvSpPr/>
          <p:nvPr/>
        </p:nvSpPr>
        <p:spPr>
          <a:xfrm>
            <a:off x="1188720" y="4773168"/>
            <a:ext cx="9829800" cy="740664"/>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472184" y="4992624"/>
            <a:ext cx="9272016" cy="310896"/>
          </a:xfrm>
          <a:prstGeom prst="rect">
            <a:avLst/>
          </a:prstGeom>
          <a:noFill/>
        </p:spPr>
        <p:txBody>
          <a:bodyPr wrap="square" lIns="13716" rIns="13716" tIns="13716" bIns="13716" anchor="t">
            <a:spAutoFit/>
          </a:bodyPr>
          <a:lstStyle/>
          <a:p>
            <a:pPr algn="ctr">
              <a:spcAft>
                <a:spcPts val="0"/>
              </a:spcAft>
              <a:defRPr sz="1600" b="0">
                <a:solidFill>
                  <a:srgbClr val="5B6F63"/>
                </a:solidFill>
                <a:latin typeface="Aptos"/>
              </a:defRPr>
            </a:pPr>
            <a:r>
              <a:t>Local preview: PGlite runs the PostgreSQL-compatible schema. Docker configuration uses PostgreSQL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killcraft-er-diagram.png"/>
          <p:cNvPicPr>
            <a:picLocks noChangeAspect="1"/>
          </p:cNvPicPr>
          <p:nvPr/>
        </p:nvPicPr>
        <p:blipFill>
          <a:blip r:embed="rId2"/>
          <a:stretch>
            <a:fillRect/>
          </a:stretch>
        </p:blipFill>
        <p:spPr>
          <a:xfrm>
            <a:off x="91440" y="91440"/>
            <a:ext cx="12006072" cy="667512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4937760" cy="237744"/>
          </a:xfrm>
          <a:prstGeom prst="rect">
            <a:avLst/>
          </a:prstGeom>
          <a:noFill/>
        </p:spPr>
        <p:txBody>
          <a:bodyPr wrap="square" lIns="13716" rIns="13716" tIns="13716" bIns="13716" anchor="t">
            <a:spAutoFit/>
          </a:bodyPr>
          <a:lstStyle/>
          <a:p>
            <a:pPr>
              <a:spcAft>
                <a:spcPts val="0"/>
              </a:spcAft>
              <a:defRPr sz="1000" b="1">
                <a:solidFill>
                  <a:srgbClr val="426A54"/>
                </a:solidFill>
                <a:latin typeface="Aptos"/>
              </a:defRPr>
            </a:pPr>
            <a:r>
              <a:t>SKILLCRAFT  /  DBTHON 2026</a:t>
            </a:r>
          </a:p>
        </p:txBody>
      </p:sp>
      <p:sp>
        <p:nvSpPr>
          <p:cNvPr id="4" name="TextBox 3"/>
          <p:cNvSpPr txBox="1"/>
          <p:nvPr/>
        </p:nvSpPr>
        <p:spPr>
          <a:xfrm>
            <a:off x="9144000" y="256032"/>
            <a:ext cx="2496312" cy="237744"/>
          </a:xfrm>
          <a:prstGeom prst="rect">
            <a:avLst/>
          </a:prstGeom>
          <a:noFill/>
        </p:spPr>
        <p:txBody>
          <a:bodyPr wrap="square" lIns="13716" rIns="13716" tIns="13716" bIns="13716" anchor="t">
            <a:spAutoFit/>
          </a:bodyPr>
          <a:lstStyle/>
          <a:p>
            <a:pPr algn="r">
              <a:spcAft>
                <a:spcPts val="0"/>
              </a:spcAft>
              <a:defRPr sz="1000" b="1">
                <a:solidFill>
                  <a:srgbClr val="5B6F63"/>
                </a:solidFill>
                <a:latin typeface="Aptos"/>
              </a:defRPr>
            </a:pPr>
            <a:r>
              <a:t>TECHNICAL DEPTH · 5 MARKS</a:t>
            </a:r>
          </a:p>
        </p:txBody>
      </p:sp>
      <p:sp>
        <p:nvSpPr>
          <p:cNvPr id="5" name="TextBox 4"/>
          <p:cNvSpPr txBox="1"/>
          <p:nvPr/>
        </p:nvSpPr>
        <p:spPr>
          <a:xfrm>
            <a:off x="502920" y="640080"/>
            <a:ext cx="11064240" cy="530352"/>
          </a:xfrm>
          <a:prstGeom prst="rect">
            <a:avLst/>
          </a:prstGeom>
          <a:noFill/>
        </p:spPr>
        <p:txBody>
          <a:bodyPr wrap="square" lIns="13716" rIns="13716" tIns="13716" bIns="13716" anchor="t">
            <a:spAutoFit/>
          </a:bodyPr>
          <a:lstStyle/>
          <a:p>
            <a:pPr>
              <a:spcAft>
                <a:spcPts val="0"/>
              </a:spcAft>
              <a:defRPr sz="3000" b="1">
                <a:solidFill>
                  <a:srgbClr val="20362E"/>
                </a:solidFill>
                <a:latin typeface="Aptos"/>
              </a:defRPr>
            </a:pPr>
            <a:r>
              <a:t>Rules protect the data when people act at once</a:t>
            </a:r>
          </a:p>
        </p:txBody>
      </p:sp>
      <p:sp>
        <p:nvSpPr>
          <p:cNvPr id="6" name="TextBox 5"/>
          <p:cNvSpPr txBox="1"/>
          <p:nvPr/>
        </p:nvSpPr>
        <p:spPr>
          <a:xfrm>
            <a:off x="521207" y="1234440"/>
            <a:ext cx="10972800" cy="411480"/>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These protections are in SQL and transactions, not only in button logic.</a:t>
            </a:r>
          </a:p>
        </p:txBody>
      </p:sp>
      <p:cxnSp>
        <p:nvCxnSpPr>
          <p:cNvPr id="7" name="Connector 6"/>
          <p:cNvCxnSpPr/>
          <p:nvPr/>
        </p:nvCxnSpPr>
        <p:spPr>
          <a:xfrm>
            <a:off x="502920" y="6501384"/>
            <a:ext cx="11183112" cy="0"/>
          </a:xfrm>
          <a:prstGeom prst="line">
            <a:avLst/>
          </a:prstGeom>
          <a:ln w="12700">
            <a:solidFill>
              <a:srgbClr val="CDD8CD"/>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12064" y="6556248"/>
            <a:ext cx="6400800" cy="182880"/>
          </a:xfrm>
          <a:prstGeom prst="rect">
            <a:avLst/>
          </a:prstGeom>
          <a:noFill/>
        </p:spPr>
        <p:txBody>
          <a:bodyPr wrap="square" lIns="13716" rIns="13716" tIns="13716" bIns="13716" anchor="t">
            <a:spAutoFit/>
          </a:bodyPr>
          <a:lstStyle/>
          <a:p>
            <a:pPr>
              <a:spcAft>
                <a:spcPts val="0"/>
              </a:spcAft>
              <a:defRPr sz="900" b="0">
                <a:solidFill>
                  <a:srgbClr val="5B6F63"/>
                </a:solidFill>
                <a:latin typeface="Aptos"/>
              </a:defRPr>
            </a:pPr>
            <a:r>
              <a:t>SkillCraft  •  database systems prototype</a:t>
            </a:r>
          </a:p>
        </p:txBody>
      </p:sp>
      <p:sp>
        <p:nvSpPr>
          <p:cNvPr id="9" name="TextBox 8"/>
          <p:cNvSpPr txBox="1"/>
          <p:nvPr/>
        </p:nvSpPr>
        <p:spPr>
          <a:xfrm>
            <a:off x="11082528" y="6547104"/>
            <a:ext cx="548640" cy="182880"/>
          </a:xfrm>
          <a:prstGeom prst="rect">
            <a:avLst/>
          </a:prstGeom>
          <a:noFill/>
        </p:spPr>
        <p:txBody>
          <a:bodyPr wrap="square" lIns="13716" rIns="13716" tIns="13716" bIns="13716" anchor="t">
            <a:spAutoFit/>
          </a:bodyPr>
          <a:lstStyle/>
          <a:p>
            <a:pPr algn="r">
              <a:spcAft>
                <a:spcPts val="0"/>
              </a:spcAft>
              <a:defRPr sz="900" b="0">
                <a:solidFill>
                  <a:srgbClr val="5B6F63"/>
                </a:solidFill>
                <a:latin typeface="Aptos"/>
              </a:defRPr>
            </a:pPr>
            <a:r>
              <a:t>07</a:t>
            </a:r>
          </a:p>
        </p:txBody>
      </p:sp>
      <p:sp>
        <p:nvSpPr>
          <p:cNvPr id="10" name="Rounded Rectangle 9"/>
          <p:cNvSpPr/>
          <p:nvPr/>
        </p:nvSpPr>
        <p:spPr>
          <a:xfrm>
            <a:off x="585216" y="1837943"/>
            <a:ext cx="5413248" cy="1591056"/>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85216" y="1837943"/>
            <a:ext cx="64008" cy="1591056"/>
          </a:xfrm>
          <a:prstGeom prst="rect">
            <a:avLst/>
          </a:prstGeom>
          <a:solidFill>
            <a:srgbClr val="42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011679"/>
            <a:ext cx="4956048" cy="365760"/>
          </a:xfrm>
          <a:prstGeom prst="rect">
            <a:avLst/>
          </a:prstGeom>
          <a:noFill/>
        </p:spPr>
        <p:txBody>
          <a:bodyPr wrap="square" lIns="13716" rIns="13716" tIns="13716" bIns="13716" anchor="t">
            <a:spAutoFit/>
          </a:bodyPr>
          <a:lstStyle/>
          <a:p>
            <a:pPr>
              <a:spcAft>
                <a:spcPts val="0"/>
              </a:spcAft>
              <a:defRPr sz="1700" b="1">
                <a:solidFill>
                  <a:srgbClr val="20362E"/>
                </a:solidFill>
                <a:latin typeface="Aptos"/>
              </a:defRPr>
            </a:pPr>
            <a:r>
              <a:t>Keys + checks</a:t>
            </a:r>
          </a:p>
        </p:txBody>
      </p:sp>
      <p:sp>
        <p:nvSpPr>
          <p:cNvPr id="13" name="TextBox 12"/>
          <p:cNvSpPr txBox="1"/>
          <p:nvPr/>
        </p:nvSpPr>
        <p:spPr>
          <a:xfrm>
            <a:off x="822960" y="2478024"/>
            <a:ext cx="4937760" cy="859536"/>
          </a:xfrm>
          <a:prstGeom prst="rect">
            <a:avLst/>
          </a:prstGeom>
          <a:noFill/>
        </p:spPr>
        <p:txBody>
          <a:bodyPr wrap="square" lIns="13716" rIns="13716" tIns="13716" bIns="13716" anchor="t">
            <a:spAutoFit/>
          </a:bodyPr>
          <a:lstStyle/>
          <a:p>
            <a:pPr>
              <a:spcAft>
                <a:spcPts val="0"/>
              </a:spcAft>
              <a:defRPr sz="1600" b="0">
                <a:solidFill>
                  <a:srgbClr val="5B6F63"/>
                </a:solidFill>
                <a:latin typeface="Aptos"/>
              </a:defRPr>
            </a:pPr>
            <a:r>
              <a:t>One bid per artisan per job; one contract per job; positive amounts; valid statuses.</a:t>
            </a:r>
          </a:p>
        </p:txBody>
      </p:sp>
      <p:sp>
        <p:nvSpPr>
          <p:cNvPr id="14" name="Rounded Rectangle 13"/>
          <p:cNvSpPr/>
          <p:nvPr/>
        </p:nvSpPr>
        <p:spPr>
          <a:xfrm>
            <a:off x="6181344" y="1837943"/>
            <a:ext cx="5413248" cy="1591056"/>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81344" y="1837943"/>
            <a:ext cx="64008" cy="1591056"/>
          </a:xfrm>
          <a:prstGeom prst="rect">
            <a:avLst/>
          </a:prstGeom>
          <a:solidFill>
            <a:srgbClr val="42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9088" y="2011679"/>
            <a:ext cx="4956048" cy="365760"/>
          </a:xfrm>
          <a:prstGeom prst="rect">
            <a:avLst/>
          </a:prstGeom>
          <a:noFill/>
        </p:spPr>
        <p:txBody>
          <a:bodyPr wrap="square" lIns="13716" rIns="13716" tIns="13716" bIns="13716" anchor="t">
            <a:spAutoFit/>
          </a:bodyPr>
          <a:lstStyle/>
          <a:p>
            <a:pPr>
              <a:spcAft>
                <a:spcPts val="0"/>
              </a:spcAft>
              <a:defRPr sz="1700" b="1">
                <a:solidFill>
                  <a:srgbClr val="20362E"/>
                </a:solidFill>
                <a:latin typeface="Aptos"/>
              </a:defRPr>
            </a:pPr>
            <a:r>
              <a:t>Safe acceptance</a:t>
            </a:r>
          </a:p>
        </p:txBody>
      </p:sp>
      <p:sp>
        <p:nvSpPr>
          <p:cNvPr id="17" name="TextBox 16"/>
          <p:cNvSpPr txBox="1"/>
          <p:nvPr/>
        </p:nvSpPr>
        <p:spPr>
          <a:xfrm>
            <a:off x="6419088" y="2478024"/>
            <a:ext cx="4937760" cy="859536"/>
          </a:xfrm>
          <a:prstGeom prst="rect">
            <a:avLst/>
          </a:prstGeom>
          <a:noFill/>
        </p:spPr>
        <p:txBody>
          <a:bodyPr wrap="square" lIns="13716" rIns="13716" tIns="13716" bIns="13716" anchor="t">
            <a:spAutoFit/>
          </a:bodyPr>
          <a:lstStyle/>
          <a:p>
            <a:pPr>
              <a:spcAft>
                <a:spcPts val="0"/>
              </a:spcAft>
              <a:defRPr sz="1600" b="0">
                <a:solidFill>
                  <a:srgbClr val="5B6F63"/>
                </a:solidFill>
                <a:latin typeface="Aptos"/>
              </a:defRPr>
            </a:pPr>
            <a:r>
              <a:t>A transaction locks the job row. Accepting one bid closes the job and rejects competitors.</a:t>
            </a:r>
          </a:p>
        </p:txBody>
      </p:sp>
      <p:sp>
        <p:nvSpPr>
          <p:cNvPr id="18" name="Rounded Rectangle 17"/>
          <p:cNvSpPr/>
          <p:nvPr/>
        </p:nvSpPr>
        <p:spPr>
          <a:xfrm>
            <a:off x="585216" y="3767328"/>
            <a:ext cx="5413248" cy="1591056"/>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85216" y="3767328"/>
            <a:ext cx="64008" cy="1591056"/>
          </a:xfrm>
          <a:prstGeom prst="rect">
            <a:avLst/>
          </a:prstGeom>
          <a:solidFill>
            <a:srgbClr val="42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941064"/>
            <a:ext cx="4956048" cy="365760"/>
          </a:xfrm>
          <a:prstGeom prst="rect">
            <a:avLst/>
          </a:prstGeom>
          <a:noFill/>
        </p:spPr>
        <p:txBody>
          <a:bodyPr wrap="square" lIns="13716" rIns="13716" tIns="13716" bIns="13716" anchor="t">
            <a:spAutoFit/>
          </a:bodyPr>
          <a:lstStyle/>
          <a:p>
            <a:pPr>
              <a:spcAft>
                <a:spcPts val="0"/>
              </a:spcAft>
              <a:defRPr sz="1700" b="1">
                <a:solidFill>
                  <a:srgbClr val="20362E"/>
                </a:solidFill>
                <a:latin typeface="Aptos"/>
              </a:defRPr>
            </a:pPr>
            <a:r>
              <a:t>Triggers + functions</a:t>
            </a:r>
          </a:p>
        </p:txBody>
      </p:sp>
      <p:sp>
        <p:nvSpPr>
          <p:cNvPr id="21" name="TextBox 20"/>
          <p:cNvSpPr txBox="1"/>
          <p:nvPr/>
        </p:nvSpPr>
        <p:spPr>
          <a:xfrm>
            <a:off x="822960" y="4407408"/>
            <a:ext cx="4937760" cy="859536"/>
          </a:xfrm>
          <a:prstGeom prst="rect">
            <a:avLst/>
          </a:prstGeom>
          <a:noFill/>
        </p:spPr>
        <p:txBody>
          <a:bodyPr wrap="square" lIns="13716" rIns="13716" tIns="13716" bIns="13716" anchor="t">
            <a:spAutoFit/>
          </a:bodyPr>
          <a:lstStyle/>
          <a:p>
            <a:pPr>
              <a:spcAft>
                <a:spcPts val="0"/>
              </a:spcAft>
              <a:defRPr sz="1600" b="0">
                <a:solidFill>
                  <a:srgbClr val="5B6F63"/>
                </a:solidFill>
                <a:latin typeface="Aptos"/>
              </a:defRPr>
            </a:pPr>
            <a:r>
              <a:t>Contract creation, event history and trust-score refresh happen in the database.</a:t>
            </a:r>
          </a:p>
        </p:txBody>
      </p:sp>
      <p:sp>
        <p:nvSpPr>
          <p:cNvPr id="22" name="Rounded Rectangle 21"/>
          <p:cNvSpPr/>
          <p:nvPr/>
        </p:nvSpPr>
        <p:spPr>
          <a:xfrm>
            <a:off x="6181344" y="3767328"/>
            <a:ext cx="5413248" cy="1591056"/>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81344" y="3767328"/>
            <a:ext cx="64008" cy="1591056"/>
          </a:xfrm>
          <a:prstGeom prst="rect">
            <a:avLst/>
          </a:prstGeom>
          <a:solidFill>
            <a:srgbClr val="42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19088" y="3941064"/>
            <a:ext cx="4956048" cy="365760"/>
          </a:xfrm>
          <a:prstGeom prst="rect">
            <a:avLst/>
          </a:prstGeom>
          <a:noFill/>
        </p:spPr>
        <p:txBody>
          <a:bodyPr wrap="square" lIns="13716" rIns="13716" tIns="13716" bIns="13716" anchor="t">
            <a:spAutoFit/>
          </a:bodyPr>
          <a:lstStyle/>
          <a:p>
            <a:pPr>
              <a:spcAft>
                <a:spcPts val="0"/>
              </a:spcAft>
              <a:defRPr sz="1700" b="1">
                <a:solidFill>
                  <a:srgbClr val="20362E"/>
                </a:solidFill>
                <a:latin typeface="Aptos"/>
              </a:defRPr>
            </a:pPr>
            <a:r>
              <a:t>Two confirmations</a:t>
            </a:r>
          </a:p>
        </p:txBody>
      </p:sp>
      <p:sp>
        <p:nvSpPr>
          <p:cNvPr id="25" name="TextBox 24"/>
          <p:cNvSpPr txBox="1"/>
          <p:nvPr/>
        </p:nvSpPr>
        <p:spPr>
          <a:xfrm>
            <a:off x="6419088" y="4407408"/>
            <a:ext cx="4937760" cy="859536"/>
          </a:xfrm>
          <a:prstGeom prst="rect">
            <a:avLst/>
          </a:prstGeom>
          <a:noFill/>
        </p:spPr>
        <p:txBody>
          <a:bodyPr wrap="square" lIns="13716" rIns="13716" tIns="13716" bIns="13716" anchor="t">
            <a:spAutoFit/>
          </a:bodyPr>
          <a:lstStyle/>
          <a:p>
            <a:pPr>
              <a:spcAft>
                <a:spcPts val="0"/>
              </a:spcAft>
              <a:defRPr sz="1600" b="0">
                <a:solidFill>
                  <a:srgbClr val="5B6F63"/>
                </a:solidFill>
                <a:latin typeface="Aptos"/>
              </a:defRPr>
            </a:pPr>
            <a:r>
              <a:t>A new contract cannot be marked paid until payment-sent and receipt timestamps both exist.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4937760" cy="237744"/>
          </a:xfrm>
          <a:prstGeom prst="rect">
            <a:avLst/>
          </a:prstGeom>
          <a:noFill/>
        </p:spPr>
        <p:txBody>
          <a:bodyPr wrap="square" lIns="13716" rIns="13716" tIns="13716" bIns="13716" anchor="t">
            <a:spAutoFit/>
          </a:bodyPr>
          <a:lstStyle/>
          <a:p>
            <a:pPr>
              <a:spcAft>
                <a:spcPts val="0"/>
              </a:spcAft>
              <a:defRPr sz="1000" b="1">
                <a:solidFill>
                  <a:srgbClr val="426A54"/>
                </a:solidFill>
                <a:latin typeface="Aptos"/>
              </a:defRPr>
            </a:pPr>
            <a:r>
              <a:t>SKILLCRAFT  /  DBTHON 2026</a:t>
            </a:r>
          </a:p>
        </p:txBody>
      </p:sp>
      <p:sp>
        <p:nvSpPr>
          <p:cNvPr id="4" name="TextBox 3"/>
          <p:cNvSpPr txBox="1"/>
          <p:nvPr/>
        </p:nvSpPr>
        <p:spPr>
          <a:xfrm>
            <a:off x="9144000" y="256032"/>
            <a:ext cx="2496312" cy="237744"/>
          </a:xfrm>
          <a:prstGeom prst="rect">
            <a:avLst/>
          </a:prstGeom>
          <a:noFill/>
        </p:spPr>
        <p:txBody>
          <a:bodyPr wrap="square" lIns="13716" rIns="13716" tIns="13716" bIns="13716" anchor="t">
            <a:spAutoFit/>
          </a:bodyPr>
          <a:lstStyle/>
          <a:p>
            <a:pPr algn="r">
              <a:spcAft>
                <a:spcPts val="0"/>
              </a:spcAft>
              <a:defRPr sz="1000" b="1">
                <a:solidFill>
                  <a:srgbClr val="5B6F63"/>
                </a:solidFill>
                <a:latin typeface="Aptos"/>
              </a:defRPr>
            </a:pPr>
            <a:r>
              <a:t>INNOVATION 4 + NOVELTY 5</a:t>
            </a:r>
          </a:p>
        </p:txBody>
      </p:sp>
      <p:sp>
        <p:nvSpPr>
          <p:cNvPr id="5" name="TextBox 4"/>
          <p:cNvSpPr txBox="1"/>
          <p:nvPr/>
        </p:nvSpPr>
        <p:spPr>
          <a:xfrm>
            <a:off x="502920" y="640080"/>
            <a:ext cx="11064240" cy="530352"/>
          </a:xfrm>
          <a:prstGeom prst="rect">
            <a:avLst/>
          </a:prstGeom>
          <a:noFill/>
        </p:spPr>
        <p:txBody>
          <a:bodyPr wrap="square" lIns="13716" rIns="13716" tIns="13716" bIns="13716" anchor="t">
            <a:spAutoFit/>
          </a:bodyPr>
          <a:lstStyle/>
          <a:p>
            <a:pPr>
              <a:spcAft>
                <a:spcPts val="0"/>
              </a:spcAft>
              <a:defRPr sz="3000" b="1">
                <a:solidFill>
                  <a:srgbClr val="20362E"/>
                </a:solidFill>
                <a:latin typeface="Aptos"/>
              </a:defRPr>
            </a:pPr>
            <a:r>
              <a:t>The innovation is a verifiable sequence of claims</a:t>
            </a:r>
          </a:p>
        </p:txBody>
      </p:sp>
      <p:sp>
        <p:nvSpPr>
          <p:cNvPr id="6" name="TextBox 5"/>
          <p:cNvSpPr txBox="1"/>
          <p:nvPr/>
        </p:nvSpPr>
        <p:spPr>
          <a:xfrm>
            <a:off x="521207" y="1234440"/>
            <a:ext cx="10972800" cy="411480"/>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Conventional status flags say 'paid'; SkillCraft records who said what and when.</a:t>
            </a:r>
          </a:p>
        </p:txBody>
      </p:sp>
      <p:cxnSp>
        <p:nvCxnSpPr>
          <p:cNvPr id="7" name="Connector 6"/>
          <p:cNvCxnSpPr/>
          <p:nvPr/>
        </p:nvCxnSpPr>
        <p:spPr>
          <a:xfrm>
            <a:off x="502920" y="6501384"/>
            <a:ext cx="11183112" cy="0"/>
          </a:xfrm>
          <a:prstGeom prst="line">
            <a:avLst/>
          </a:prstGeom>
          <a:ln w="12700">
            <a:solidFill>
              <a:srgbClr val="CDD8CD"/>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12064" y="6556248"/>
            <a:ext cx="6400800" cy="182880"/>
          </a:xfrm>
          <a:prstGeom prst="rect">
            <a:avLst/>
          </a:prstGeom>
          <a:noFill/>
        </p:spPr>
        <p:txBody>
          <a:bodyPr wrap="square" lIns="13716" rIns="13716" tIns="13716" bIns="13716" anchor="t">
            <a:spAutoFit/>
          </a:bodyPr>
          <a:lstStyle/>
          <a:p>
            <a:pPr>
              <a:spcAft>
                <a:spcPts val="0"/>
              </a:spcAft>
              <a:defRPr sz="900" b="0">
                <a:solidFill>
                  <a:srgbClr val="5B6F63"/>
                </a:solidFill>
                <a:latin typeface="Aptos"/>
              </a:defRPr>
            </a:pPr>
            <a:r>
              <a:t>SkillCraft  •  database systems prototype</a:t>
            </a:r>
          </a:p>
        </p:txBody>
      </p:sp>
      <p:sp>
        <p:nvSpPr>
          <p:cNvPr id="9" name="TextBox 8"/>
          <p:cNvSpPr txBox="1"/>
          <p:nvPr/>
        </p:nvSpPr>
        <p:spPr>
          <a:xfrm>
            <a:off x="11082528" y="6547104"/>
            <a:ext cx="548640" cy="182880"/>
          </a:xfrm>
          <a:prstGeom prst="rect">
            <a:avLst/>
          </a:prstGeom>
          <a:noFill/>
        </p:spPr>
        <p:txBody>
          <a:bodyPr wrap="square" lIns="13716" rIns="13716" tIns="13716" bIns="13716" anchor="t">
            <a:spAutoFit/>
          </a:bodyPr>
          <a:lstStyle/>
          <a:p>
            <a:pPr algn="r">
              <a:spcAft>
                <a:spcPts val="0"/>
              </a:spcAft>
              <a:defRPr sz="900" b="0">
                <a:solidFill>
                  <a:srgbClr val="5B6F63"/>
                </a:solidFill>
                <a:latin typeface="Aptos"/>
              </a:defRPr>
            </a:pPr>
            <a:r>
              <a:t>08</a:t>
            </a:r>
          </a:p>
        </p:txBody>
      </p:sp>
      <p:sp>
        <p:nvSpPr>
          <p:cNvPr id="10" name="Rounded Rectangle 9"/>
          <p:cNvSpPr/>
          <p:nvPr/>
        </p:nvSpPr>
        <p:spPr>
          <a:xfrm>
            <a:off x="640080" y="1828800"/>
            <a:ext cx="5010912" cy="2862072"/>
          </a:xfrm>
          <a:prstGeom prst="roundRect">
            <a:avLst>
              <a:gd name="adj" fmla="val 6000"/>
            </a:avLst>
          </a:prstGeom>
          <a:solidFill>
            <a:srgbClr val="EEE7DE"/>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084831"/>
            <a:ext cx="4370832" cy="329184"/>
          </a:xfrm>
          <a:prstGeom prst="rect">
            <a:avLst/>
          </a:prstGeom>
          <a:noFill/>
        </p:spPr>
        <p:txBody>
          <a:bodyPr wrap="square" lIns="13716" rIns="13716" tIns="13716" bIns="13716" anchor="t">
            <a:spAutoFit/>
          </a:bodyPr>
          <a:lstStyle/>
          <a:p>
            <a:pPr>
              <a:spcAft>
                <a:spcPts val="0"/>
              </a:spcAft>
              <a:defRPr sz="1500" b="1">
                <a:solidFill>
                  <a:srgbClr val="A86948"/>
                </a:solidFill>
                <a:latin typeface="Aptos"/>
              </a:defRPr>
            </a:pPr>
            <a:r>
              <a:t>CONVENTIONAL APPROACH</a:t>
            </a:r>
          </a:p>
        </p:txBody>
      </p:sp>
      <p:sp>
        <p:nvSpPr>
          <p:cNvPr id="12" name="TextBox 11"/>
          <p:cNvSpPr txBox="1"/>
          <p:nvPr/>
        </p:nvSpPr>
        <p:spPr>
          <a:xfrm>
            <a:off x="914400" y="2633472"/>
            <a:ext cx="4443984" cy="1005840"/>
          </a:xfrm>
          <a:prstGeom prst="rect">
            <a:avLst/>
          </a:prstGeom>
          <a:noFill/>
        </p:spPr>
        <p:txBody>
          <a:bodyPr wrap="square" lIns="13716" rIns="13716" tIns="13716" bIns="13716" anchor="t">
            <a:spAutoFit/>
          </a:bodyPr>
          <a:lstStyle/>
          <a:p>
            <a:pPr>
              <a:spcAft>
                <a:spcPts val="0"/>
              </a:spcAft>
              <a:defRPr sz="2500" b="1">
                <a:solidFill>
                  <a:srgbClr val="20362E"/>
                </a:solidFill>
                <a:latin typeface="Aptos"/>
              </a:defRPr>
            </a:pPr>
            <a:r>
              <a:t>Employer flips one</a:t>
            </a:r>
          </a:p>
          <a:p>
            <a:pPr>
              <a:spcAft>
                <a:spcPts val="0"/>
              </a:spcAft>
              <a:defRPr sz="2500" b="1">
                <a:solidFill>
                  <a:srgbClr val="20362E"/>
                </a:solidFill>
                <a:latin typeface="Aptos"/>
              </a:defRPr>
            </a:pPr>
            <a:r>
              <a:t>payment flag to paid.</a:t>
            </a:r>
          </a:p>
        </p:txBody>
      </p:sp>
      <p:sp>
        <p:nvSpPr>
          <p:cNvPr id="13" name="TextBox 12"/>
          <p:cNvSpPr txBox="1"/>
          <p:nvPr/>
        </p:nvSpPr>
        <p:spPr>
          <a:xfrm>
            <a:off x="914400" y="3968496"/>
            <a:ext cx="4389120" cy="429768"/>
          </a:xfrm>
          <a:prstGeom prst="rect">
            <a:avLst/>
          </a:prstGeom>
          <a:noFill/>
        </p:spPr>
        <p:txBody>
          <a:bodyPr wrap="square" lIns="13716" rIns="13716" tIns="13716" bIns="13716" anchor="t">
            <a:spAutoFit/>
          </a:bodyPr>
          <a:lstStyle/>
          <a:p>
            <a:pPr>
              <a:spcAft>
                <a:spcPts val="0"/>
              </a:spcAft>
              <a:defRPr sz="1700" b="0">
                <a:solidFill>
                  <a:srgbClr val="5B6F63"/>
                </a:solidFill>
                <a:latin typeface="Aptos"/>
              </a:defRPr>
            </a:pPr>
            <a:r>
              <a:t>The worker's acknowledgment is missing.</a:t>
            </a:r>
          </a:p>
        </p:txBody>
      </p:sp>
      <p:sp>
        <p:nvSpPr>
          <p:cNvPr id="14" name="Rounded Rectangle 13"/>
          <p:cNvSpPr/>
          <p:nvPr/>
        </p:nvSpPr>
        <p:spPr>
          <a:xfrm>
            <a:off x="6510528" y="1828800"/>
            <a:ext cx="5010912" cy="2862072"/>
          </a:xfrm>
          <a:prstGeom prst="roundRect">
            <a:avLst>
              <a:gd name="adj" fmla="val 6000"/>
            </a:avLst>
          </a:prstGeom>
          <a:solidFill>
            <a:srgbClr val="E4ECE4"/>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84848" y="2084831"/>
            <a:ext cx="4370832" cy="329184"/>
          </a:xfrm>
          <a:prstGeom prst="rect">
            <a:avLst/>
          </a:prstGeom>
          <a:noFill/>
        </p:spPr>
        <p:txBody>
          <a:bodyPr wrap="square" lIns="13716" rIns="13716" tIns="13716" bIns="13716" anchor="t">
            <a:spAutoFit/>
          </a:bodyPr>
          <a:lstStyle/>
          <a:p>
            <a:pPr>
              <a:spcAft>
                <a:spcPts val="0"/>
              </a:spcAft>
              <a:defRPr sz="1500" b="1">
                <a:solidFill>
                  <a:srgbClr val="426A54"/>
                </a:solidFill>
                <a:latin typeface="Aptos"/>
              </a:defRPr>
            </a:pPr>
            <a:r>
              <a:t>SKILLCRAFT NOW</a:t>
            </a:r>
          </a:p>
        </p:txBody>
      </p:sp>
      <p:sp>
        <p:nvSpPr>
          <p:cNvPr id="16" name="TextBox 15"/>
          <p:cNvSpPr txBox="1"/>
          <p:nvPr/>
        </p:nvSpPr>
        <p:spPr>
          <a:xfrm>
            <a:off x="6784848" y="2633472"/>
            <a:ext cx="4443984" cy="1005840"/>
          </a:xfrm>
          <a:prstGeom prst="rect">
            <a:avLst/>
          </a:prstGeom>
          <a:noFill/>
        </p:spPr>
        <p:txBody>
          <a:bodyPr wrap="square" lIns="13716" rIns="13716" tIns="13716" bIns="13716" anchor="t">
            <a:spAutoFit/>
          </a:bodyPr>
          <a:lstStyle/>
          <a:p>
            <a:pPr>
              <a:spcAft>
                <a:spcPts val="0"/>
              </a:spcAft>
              <a:defRPr sz="2500" b="1">
                <a:solidFill>
                  <a:srgbClr val="20362E"/>
                </a:solidFill>
                <a:latin typeface="Aptos"/>
              </a:defRPr>
            </a:pPr>
            <a:r>
              <a:t>Employer records sent.</a:t>
            </a:r>
          </a:p>
          <a:p>
            <a:pPr>
              <a:spcAft>
                <a:spcPts val="0"/>
              </a:spcAft>
              <a:defRPr sz="2500" b="1">
                <a:solidFill>
                  <a:srgbClr val="20362E"/>
                </a:solidFill>
                <a:latin typeface="Aptos"/>
              </a:defRPr>
            </a:pPr>
            <a:r>
              <a:t>Artisan confirms received.</a:t>
            </a:r>
          </a:p>
        </p:txBody>
      </p:sp>
      <p:sp>
        <p:nvSpPr>
          <p:cNvPr id="17" name="TextBox 16"/>
          <p:cNvSpPr txBox="1"/>
          <p:nvPr/>
        </p:nvSpPr>
        <p:spPr>
          <a:xfrm>
            <a:off x="6784848" y="3968496"/>
            <a:ext cx="4389120" cy="429768"/>
          </a:xfrm>
          <a:prstGeom prst="rect">
            <a:avLst/>
          </a:prstGeom>
          <a:noFill/>
        </p:spPr>
        <p:txBody>
          <a:bodyPr wrap="square" lIns="13716" rIns="13716" tIns="13716" bIns="13716" anchor="t">
            <a:spAutoFit/>
          </a:bodyPr>
          <a:lstStyle/>
          <a:p>
            <a:pPr>
              <a:spcAft>
                <a:spcPts val="0"/>
              </a:spcAft>
              <a:defRPr sz="1700" b="0">
                <a:solidFill>
                  <a:srgbClr val="5B6F63"/>
                </a:solidFill>
                <a:latin typeface="Aptos"/>
              </a:defRPr>
            </a:pPr>
            <a:r>
              <a:t>An append-only history records each event.</a:t>
            </a:r>
          </a:p>
        </p:txBody>
      </p:sp>
      <p:sp>
        <p:nvSpPr>
          <p:cNvPr id="18" name="TextBox 17"/>
          <p:cNvSpPr txBox="1"/>
          <p:nvPr/>
        </p:nvSpPr>
        <p:spPr>
          <a:xfrm>
            <a:off x="960120" y="5175504"/>
            <a:ext cx="10287000" cy="685800"/>
          </a:xfrm>
          <a:prstGeom prst="rect">
            <a:avLst/>
          </a:prstGeom>
          <a:noFill/>
        </p:spPr>
        <p:txBody>
          <a:bodyPr wrap="square" lIns="13716" rIns="13716" tIns="13716" bIns="13716" anchor="t">
            <a:spAutoFit/>
          </a:bodyPr>
          <a:lstStyle/>
          <a:p>
            <a:pPr algn="ctr">
              <a:spcAft>
                <a:spcPts val="0"/>
              </a:spcAft>
              <a:defRPr sz="1700" b="0">
                <a:solidFill>
                  <a:srgbClr val="5B6F63"/>
                </a:solidFill>
                <a:latin typeface="Aptos"/>
              </a:defRPr>
            </a:pPr>
            <a:r>
              <a:t>A review is allowed only after a new contract is paid. Older paid rows remain visibly legacy, not falsely backfilled.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4937760" cy="237744"/>
          </a:xfrm>
          <a:prstGeom prst="rect">
            <a:avLst/>
          </a:prstGeom>
          <a:noFill/>
        </p:spPr>
        <p:txBody>
          <a:bodyPr wrap="square" lIns="13716" rIns="13716" tIns="13716" bIns="13716" anchor="t">
            <a:spAutoFit/>
          </a:bodyPr>
          <a:lstStyle/>
          <a:p>
            <a:pPr>
              <a:spcAft>
                <a:spcPts val="0"/>
              </a:spcAft>
              <a:defRPr sz="1000" b="1">
                <a:solidFill>
                  <a:srgbClr val="426A54"/>
                </a:solidFill>
                <a:latin typeface="Aptos"/>
              </a:defRPr>
            </a:pPr>
            <a:r>
              <a:t>SKILLCRAFT  /  DBTHON 2026</a:t>
            </a:r>
          </a:p>
        </p:txBody>
      </p:sp>
      <p:sp>
        <p:nvSpPr>
          <p:cNvPr id="4" name="TextBox 3"/>
          <p:cNvSpPr txBox="1"/>
          <p:nvPr/>
        </p:nvSpPr>
        <p:spPr>
          <a:xfrm>
            <a:off x="9144000" y="256032"/>
            <a:ext cx="2496312" cy="237744"/>
          </a:xfrm>
          <a:prstGeom prst="rect">
            <a:avLst/>
          </a:prstGeom>
          <a:noFill/>
        </p:spPr>
        <p:txBody>
          <a:bodyPr wrap="square" lIns="13716" rIns="13716" tIns="13716" bIns="13716" anchor="t">
            <a:spAutoFit/>
          </a:bodyPr>
          <a:lstStyle/>
          <a:p>
            <a:pPr algn="r">
              <a:spcAft>
                <a:spcPts val="0"/>
              </a:spcAft>
              <a:defRPr sz="1000" b="1">
                <a:solidFill>
                  <a:srgbClr val="5B6F63"/>
                </a:solidFill>
                <a:latin typeface="Aptos"/>
              </a:defRPr>
            </a:pPr>
            <a:r>
              <a:t>DATABASE FUNCTION + TRIGGER</a:t>
            </a:r>
          </a:p>
        </p:txBody>
      </p:sp>
      <p:sp>
        <p:nvSpPr>
          <p:cNvPr id="5" name="TextBox 4"/>
          <p:cNvSpPr txBox="1"/>
          <p:nvPr/>
        </p:nvSpPr>
        <p:spPr>
          <a:xfrm>
            <a:off x="502920" y="640080"/>
            <a:ext cx="11064240" cy="530352"/>
          </a:xfrm>
          <a:prstGeom prst="rect">
            <a:avLst/>
          </a:prstGeom>
          <a:noFill/>
        </p:spPr>
        <p:txBody>
          <a:bodyPr wrap="square" lIns="13716" rIns="13716" tIns="13716" bIns="13716" anchor="t">
            <a:spAutoFit/>
          </a:bodyPr>
          <a:lstStyle/>
          <a:p>
            <a:pPr>
              <a:spcAft>
                <a:spcPts val="0"/>
              </a:spcAft>
              <a:defRPr sz="3000" b="1">
                <a:solidFill>
                  <a:srgbClr val="20362E"/>
                </a:solidFill>
                <a:latin typeface="Aptos"/>
              </a:defRPr>
            </a:pPr>
            <a:r>
              <a:t>A review updates a careful trust score</a:t>
            </a:r>
          </a:p>
        </p:txBody>
      </p:sp>
      <p:sp>
        <p:nvSpPr>
          <p:cNvPr id="6" name="TextBox 5"/>
          <p:cNvSpPr txBox="1"/>
          <p:nvPr/>
        </p:nvSpPr>
        <p:spPr>
          <a:xfrm>
            <a:off x="521207" y="1234440"/>
            <a:ext cx="10972800" cy="411480"/>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Only a paid contract can receive a review. A trigger refreshes the artisan's stored score.</a:t>
            </a:r>
          </a:p>
        </p:txBody>
      </p:sp>
      <p:cxnSp>
        <p:nvCxnSpPr>
          <p:cNvPr id="7" name="Connector 6"/>
          <p:cNvCxnSpPr/>
          <p:nvPr/>
        </p:nvCxnSpPr>
        <p:spPr>
          <a:xfrm>
            <a:off x="502920" y="6501384"/>
            <a:ext cx="11183112" cy="0"/>
          </a:xfrm>
          <a:prstGeom prst="line">
            <a:avLst/>
          </a:prstGeom>
          <a:ln w="12700">
            <a:solidFill>
              <a:srgbClr val="CDD8CD"/>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12064" y="6556248"/>
            <a:ext cx="6400800" cy="182880"/>
          </a:xfrm>
          <a:prstGeom prst="rect">
            <a:avLst/>
          </a:prstGeom>
          <a:noFill/>
        </p:spPr>
        <p:txBody>
          <a:bodyPr wrap="square" lIns="13716" rIns="13716" tIns="13716" bIns="13716" anchor="t">
            <a:spAutoFit/>
          </a:bodyPr>
          <a:lstStyle/>
          <a:p>
            <a:pPr>
              <a:spcAft>
                <a:spcPts val="0"/>
              </a:spcAft>
              <a:defRPr sz="900" b="0">
                <a:solidFill>
                  <a:srgbClr val="5B6F63"/>
                </a:solidFill>
                <a:latin typeface="Aptos"/>
              </a:defRPr>
            </a:pPr>
            <a:r>
              <a:t>SkillCraft  •  database systems prototype</a:t>
            </a:r>
          </a:p>
        </p:txBody>
      </p:sp>
      <p:sp>
        <p:nvSpPr>
          <p:cNvPr id="9" name="TextBox 8"/>
          <p:cNvSpPr txBox="1"/>
          <p:nvPr/>
        </p:nvSpPr>
        <p:spPr>
          <a:xfrm>
            <a:off x="11082528" y="6547104"/>
            <a:ext cx="548640" cy="182880"/>
          </a:xfrm>
          <a:prstGeom prst="rect">
            <a:avLst/>
          </a:prstGeom>
          <a:noFill/>
        </p:spPr>
        <p:txBody>
          <a:bodyPr wrap="square" lIns="13716" rIns="13716" tIns="13716" bIns="13716" anchor="t">
            <a:spAutoFit/>
          </a:bodyPr>
          <a:lstStyle/>
          <a:p>
            <a:pPr algn="r">
              <a:spcAft>
                <a:spcPts val="0"/>
              </a:spcAft>
              <a:defRPr sz="900" b="0">
                <a:solidFill>
                  <a:srgbClr val="5B6F63"/>
                </a:solidFill>
                <a:latin typeface="Aptos"/>
              </a:defRPr>
            </a:pPr>
            <a:r>
              <a:t>09</a:t>
            </a:r>
          </a:p>
        </p:txBody>
      </p:sp>
      <p:sp>
        <p:nvSpPr>
          <p:cNvPr id="10" name="Rounded Rectangle 9"/>
          <p:cNvSpPr/>
          <p:nvPr/>
        </p:nvSpPr>
        <p:spPr>
          <a:xfrm>
            <a:off x="685800" y="1856231"/>
            <a:ext cx="10817352" cy="1975104"/>
          </a:xfrm>
          <a:prstGeom prst="roundRect">
            <a:avLst>
              <a:gd name="adj" fmla="val 6000"/>
            </a:avLst>
          </a:prstGeom>
          <a:solidFill>
            <a:srgbClr val="E4ECE4"/>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2130552"/>
            <a:ext cx="4572000" cy="320040"/>
          </a:xfrm>
          <a:prstGeom prst="rect">
            <a:avLst/>
          </a:prstGeom>
          <a:noFill/>
        </p:spPr>
        <p:txBody>
          <a:bodyPr wrap="square" lIns="13716" rIns="13716" tIns="13716" bIns="13716" anchor="t">
            <a:spAutoFit/>
          </a:bodyPr>
          <a:lstStyle/>
          <a:p>
            <a:pPr>
              <a:spcAft>
                <a:spcPts val="0"/>
              </a:spcAft>
              <a:defRPr sz="1500" b="1">
                <a:solidFill>
                  <a:srgbClr val="426A54"/>
                </a:solidFill>
                <a:latin typeface="Aptos"/>
              </a:defRPr>
            </a:pPr>
            <a:r>
              <a:t>ONE NEW 5-STAR REVIEW</a:t>
            </a:r>
          </a:p>
        </p:txBody>
      </p:sp>
      <p:sp>
        <p:nvSpPr>
          <p:cNvPr id="12" name="TextBox 11"/>
          <p:cNvSpPr txBox="1"/>
          <p:nvPr/>
        </p:nvSpPr>
        <p:spPr>
          <a:xfrm>
            <a:off x="987552" y="2670048"/>
            <a:ext cx="10140696" cy="649224"/>
          </a:xfrm>
          <a:prstGeom prst="rect">
            <a:avLst/>
          </a:prstGeom>
          <a:noFill/>
        </p:spPr>
        <p:txBody>
          <a:bodyPr wrap="square" lIns="13716" rIns="13716" tIns="13716" bIns="13716" anchor="t">
            <a:spAutoFit/>
          </a:bodyPr>
          <a:lstStyle/>
          <a:p>
            <a:pPr algn="ctr">
              <a:spcAft>
                <a:spcPts val="0"/>
              </a:spcAft>
              <a:defRPr sz="2900" b="1">
                <a:solidFill>
                  <a:srgbClr val="20362E"/>
                </a:solidFill>
                <a:latin typeface="Aptos"/>
              </a:defRPr>
            </a:pPr>
            <a:r>
              <a:t>(5 + 3 × 3.5) ÷ (1 + 3)  =  3.88</a:t>
            </a:r>
          </a:p>
        </p:txBody>
      </p:sp>
      <p:sp>
        <p:nvSpPr>
          <p:cNvPr id="13" name="Rounded Rectangle 12"/>
          <p:cNvSpPr/>
          <p:nvPr/>
        </p:nvSpPr>
        <p:spPr>
          <a:xfrm>
            <a:off x="713232" y="4224528"/>
            <a:ext cx="3401568" cy="1307592"/>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13232" y="4224528"/>
            <a:ext cx="64008" cy="1307592"/>
          </a:xfrm>
          <a:prstGeom prst="rect">
            <a:avLst/>
          </a:prstGeom>
          <a:solidFill>
            <a:srgbClr val="42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4398264"/>
            <a:ext cx="2944368" cy="365760"/>
          </a:xfrm>
          <a:prstGeom prst="rect">
            <a:avLst/>
          </a:prstGeom>
          <a:noFill/>
        </p:spPr>
        <p:txBody>
          <a:bodyPr wrap="square" lIns="13716" rIns="13716" tIns="13716" bIns="13716" anchor="t">
            <a:spAutoFit/>
          </a:bodyPr>
          <a:lstStyle/>
          <a:p>
            <a:pPr>
              <a:spcAft>
                <a:spcPts val="0"/>
              </a:spcAft>
              <a:defRPr sz="1700" b="1">
                <a:solidFill>
                  <a:srgbClr val="20362E"/>
                </a:solidFill>
                <a:latin typeface="Aptos"/>
              </a:defRPr>
            </a:pPr>
            <a:r>
              <a:t>ELIGIBLE DATA</a:t>
            </a:r>
          </a:p>
        </p:txBody>
      </p:sp>
      <p:sp>
        <p:nvSpPr>
          <p:cNvPr id="16" name="TextBox 15"/>
          <p:cNvSpPr txBox="1"/>
          <p:nvPr/>
        </p:nvSpPr>
        <p:spPr>
          <a:xfrm>
            <a:off x="950976" y="4864608"/>
            <a:ext cx="2926080" cy="576071"/>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Reviews tied to paid contracts.</a:t>
            </a:r>
          </a:p>
        </p:txBody>
      </p:sp>
      <p:sp>
        <p:nvSpPr>
          <p:cNvPr id="17" name="Rounded Rectangle 16"/>
          <p:cNvSpPr/>
          <p:nvPr/>
        </p:nvSpPr>
        <p:spPr>
          <a:xfrm>
            <a:off x="4398264" y="4224528"/>
            <a:ext cx="3401568" cy="1307592"/>
          </a:xfrm>
          <a:prstGeom prst="roundRect">
            <a:avLst>
              <a:gd name="adj" fmla="val 6000"/>
            </a:avLst>
          </a:prstGeom>
          <a:solidFill>
            <a:srgbClr val="EEE7DE"/>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4224528"/>
            <a:ext cx="64008" cy="1307592"/>
          </a:xfrm>
          <a:prstGeom prst="rect">
            <a:avLst/>
          </a:prstGeom>
          <a:solidFill>
            <a:srgbClr val="A86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6007" y="4398264"/>
            <a:ext cx="2944368" cy="365760"/>
          </a:xfrm>
          <a:prstGeom prst="rect">
            <a:avLst/>
          </a:prstGeom>
          <a:noFill/>
        </p:spPr>
        <p:txBody>
          <a:bodyPr wrap="square" lIns="13716" rIns="13716" tIns="13716" bIns="13716" anchor="t">
            <a:spAutoFit/>
          </a:bodyPr>
          <a:lstStyle/>
          <a:p>
            <a:pPr>
              <a:spcAft>
                <a:spcPts val="0"/>
              </a:spcAft>
              <a:defRPr sz="1700" b="1">
                <a:solidFill>
                  <a:srgbClr val="20362E"/>
                </a:solidFill>
                <a:latin typeface="Aptos"/>
              </a:defRPr>
            </a:pPr>
            <a:r>
              <a:t>STABILIZING PRIOR</a:t>
            </a:r>
          </a:p>
        </p:txBody>
      </p:sp>
      <p:sp>
        <p:nvSpPr>
          <p:cNvPr id="20" name="TextBox 19"/>
          <p:cNvSpPr txBox="1"/>
          <p:nvPr/>
        </p:nvSpPr>
        <p:spPr>
          <a:xfrm>
            <a:off x="4636007" y="4864608"/>
            <a:ext cx="2926080" cy="576071"/>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Three virtual 3.5-star reviews.</a:t>
            </a:r>
          </a:p>
        </p:txBody>
      </p:sp>
      <p:sp>
        <p:nvSpPr>
          <p:cNvPr id="21" name="Rounded Rectangle 20"/>
          <p:cNvSpPr/>
          <p:nvPr/>
        </p:nvSpPr>
        <p:spPr>
          <a:xfrm>
            <a:off x="8083296" y="4224528"/>
            <a:ext cx="3401568" cy="1307592"/>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83296" y="4224528"/>
            <a:ext cx="64008" cy="1307592"/>
          </a:xfrm>
          <a:prstGeom prst="rect">
            <a:avLst/>
          </a:prstGeom>
          <a:solidFill>
            <a:srgbClr val="42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0" y="4398264"/>
            <a:ext cx="2944368" cy="365760"/>
          </a:xfrm>
          <a:prstGeom prst="rect">
            <a:avLst/>
          </a:prstGeom>
          <a:noFill/>
        </p:spPr>
        <p:txBody>
          <a:bodyPr wrap="square" lIns="13716" rIns="13716" tIns="13716" bIns="13716" anchor="t">
            <a:spAutoFit/>
          </a:bodyPr>
          <a:lstStyle/>
          <a:p>
            <a:pPr>
              <a:spcAft>
                <a:spcPts val="0"/>
              </a:spcAft>
              <a:defRPr sz="1700" b="1">
                <a:solidFill>
                  <a:srgbClr val="20362E"/>
                </a:solidFill>
                <a:latin typeface="Aptos"/>
              </a:defRPr>
            </a:pPr>
            <a:r>
              <a:t>AUTOMATIC UPDATE</a:t>
            </a:r>
          </a:p>
        </p:txBody>
      </p:sp>
      <p:sp>
        <p:nvSpPr>
          <p:cNvPr id="24" name="TextBox 23"/>
          <p:cNvSpPr txBox="1"/>
          <p:nvPr/>
        </p:nvSpPr>
        <p:spPr>
          <a:xfrm>
            <a:off x="8321040" y="4864608"/>
            <a:ext cx="2926080" cy="576071"/>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Review insert runs the score function.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4937760" cy="237744"/>
          </a:xfrm>
          <a:prstGeom prst="rect">
            <a:avLst/>
          </a:prstGeom>
          <a:noFill/>
        </p:spPr>
        <p:txBody>
          <a:bodyPr wrap="square" lIns="13716" rIns="13716" tIns="13716" bIns="13716" anchor="t">
            <a:spAutoFit/>
          </a:bodyPr>
          <a:lstStyle/>
          <a:p>
            <a:pPr>
              <a:spcAft>
                <a:spcPts val="0"/>
              </a:spcAft>
              <a:defRPr sz="1000" b="1">
                <a:solidFill>
                  <a:srgbClr val="426A54"/>
                </a:solidFill>
                <a:latin typeface="Aptos"/>
              </a:defRPr>
            </a:pPr>
            <a:r>
              <a:t>SKILLCRAFT  /  DBTHON 2026</a:t>
            </a:r>
          </a:p>
        </p:txBody>
      </p:sp>
      <p:sp>
        <p:nvSpPr>
          <p:cNvPr id="4" name="TextBox 3"/>
          <p:cNvSpPr txBox="1"/>
          <p:nvPr/>
        </p:nvSpPr>
        <p:spPr>
          <a:xfrm>
            <a:off x="9144000" y="256032"/>
            <a:ext cx="2496312" cy="237744"/>
          </a:xfrm>
          <a:prstGeom prst="rect">
            <a:avLst/>
          </a:prstGeom>
          <a:noFill/>
        </p:spPr>
        <p:txBody>
          <a:bodyPr wrap="square" lIns="13716" rIns="13716" tIns="13716" bIns="13716" anchor="t">
            <a:spAutoFit/>
          </a:bodyPr>
          <a:lstStyle/>
          <a:p>
            <a:pPr algn="r">
              <a:spcAft>
                <a:spcPts val="0"/>
              </a:spcAft>
              <a:defRPr sz="1000" b="1">
                <a:solidFill>
                  <a:srgbClr val="5B6F63"/>
                </a:solidFill>
                <a:latin typeface="Aptos"/>
              </a:defRPr>
            </a:pPr>
            <a:r>
              <a:t>IMPLEMENTATION + DIFFERENTIATION</a:t>
            </a:r>
          </a:p>
        </p:txBody>
      </p:sp>
      <p:sp>
        <p:nvSpPr>
          <p:cNvPr id="5" name="TextBox 4"/>
          <p:cNvSpPr txBox="1"/>
          <p:nvPr/>
        </p:nvSpPr>
        <p:spPr>
          <a:xfrm>
            <a:off x="502920" y="640080"/>
            <a:ext cx="11064240" cy="530352"/>
          </a:xfrm>
          <a:prstGeom prst="rect">
            <a:avLst/>
          </a:prstGeom>
          <a:noFill/>
        </p:spPr>
        <p:txBody>
          <a:bodyPr wrap="square" lIns="13716" rIns="13716" tIns="13716" bIns="13716" anchor="t">
            <a:spAutoFit/>
          </a:bodyPr>
          <a:lstStyle/>
          <a:p>
            <a:pPr>
              <a:spcAft>
                <a:spcPts val="0"/>
              </a:spcAft>
              <a:defRPr sz="3000" b="1">
                <a:solidFill>
                  <a:srgbClr val="20362E"/>
                </a:solidFill>
                <a:latin typeface="Aptos"/>
              </a:defRPr>
            </a:pPr>
            <a:r>
              <a:t>Matching and privacy are database features</a:t>
            </a:r>
          </a:p>
        </p:txBody>
      </p:sp>
      <p:sp>
        <p:nvSpPr>
          <p:cNvPr id="6" name="TextBox 5"/>
          <p:cNvSpPr txBox="1"/>
          <p:nvPr/>
        </p:nvSpPr>
        <p:spPr>
          <a:xfrm>
            <a:off x="521207" y="1234440"/>
            <a:ext cx="10972800" cy="411480"/>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The discovery screens are backed by indexed queries and restricted database access.</a:t>
            </a:r>
          </a:p>
        </p:txBody>
      </p:sp>
      <p:cxnSp>
        <p:nvCxnSpPr>
          <p:cNvPr id="7" name="Connector 6"/>
          <p:cNvCxnSpPr/>
          <p:nvPr/>
        </p:nvCxnSpPr>
        <p:spPr>
          <a:xfrm>
            <a:off x="502920" y="6501384"/>
            <a:ext cx="11183112" cy="0"/>
          </a:xfrm>
          <a:prstGeom prst="line">
            <a:avLst/>
          </a:prstGeom>
          <a:ln w="12700">
            <a:solidFill>
              <a:srgbClr val="CDD8CD"/>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12064" y="6556248"/>
            <a:ext cx="6400800" cy="182880"/>
          </a:xfrm>
          <a:prstGeom prst="rect">
            <a:avLst/>
          </a:prstGeom>
          <a:noFill/>
        </p:spPr>
        <p:txBody>
          <a:bodyPr wrap="square" lIns="13716" rIns="13716" tIns="13716" bIns="13716" anchor="t">
            <a:spAutoFit/>
          </a:bodyPr>
          <a:lstStyle/>
          <a:p>
            <a:pPr>
              <a:spcAft>
                <a:spcPts val="0"/>
              </a:spcAft>
              <a:defRPr sz="900" b="0">
                <a:solidFill>
                  <a:srgbClr val="5B6F63"/>
                </a:solidFill>
                <a:latin typeface="Aptos"/>
              </a:defRPr>
            </a:pPr>
            <a:r>
              <a:t>SkillCraft  •  database systems prototype</a:t>
            </a:r>
          </a:p>
        </p:txBody>
      </p:sp>
      <p:sp>
        <p:nvSpPr>
          <p:cNvPr id="9" name="TextBox 8"/>
          <p:cNvSpPr txBox="1"/>
          <p:nvPr/>
        </p:nvSpPr>
        <p:spPr>
          <a:xfrm>
            <a:off x="11082528" y="6547104"/>
            <a:ext cx="548640" cy="182880"/>
          </a:xfrm>
          <a:prstGeom prst="rect">
            <a:avLst/>
          </a:prstGeom>
          <a:noFill/>
        </p:spPr>
        <p:txBody>
          <a:bodyPr wrap="square" lIns="13716" rIns="13716" tIns="13716" bIns="13716" anchor="t">
            <a:spAutoFit/>
          </a:bodyPr>
          <a:lstStyle/>
          <a:p>
            <a:pPr algn="r">
              <a:spcAft>
                <a:spcPts val="0"/>
              </a:spcAft>
              <a:defRPr sz="900" b="0">
                <a:solidFill>
                  <a:srgbClr val="5B6F63"/>
                </a:solidFill>
                <a:latin typeface="Aptos"/>
              </a:defRPr>
            </a:pPr>
            <a:r>
              <a:t>10</a:t>
            </a:r>
          </a:p>
        </p:txBody>
      </p:sp>
      <p:sp>
        <p:nvSpPr>
          <p:cNvPr id="10" name="Rounded Rectangle 9"/>
          <p:cNvSpPr/>
          <p:nvPr/>
        </p:nvSpPr>
        <p:spPr>
          <a:xfrm>
            <a:off x="667512" y="1874519"/>
            <a:ext cx="3447288" cy="3136392"/>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1874519"/>
            <a:ext cx="64008" cy="3136392"/>
          </a:xfrm>
          <a:prstGeom prst="rect">
            <a:avLst/>
          </a:prstGeom>
          <a:solidFill>
            <a:srgbClr val="42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048255"/>
            <a:ext cx="2990088" cy="365760"/>
          </a:xfrm>
          <a:prstGeom prst="rect">
            <a:avLst/>
          </a:prstGeom>
          <a:noFill/>
        </p:spPr>
        <p:txBody>
          <a:bodyPr wrap="square" lIns="13716" rIns="13716" tIns="13716" bIns="13716" anchor="t">
            <a:spAutoFit/>
          </a:bodyPr>
          <a:lstStyle/>
          <a:p>
            <a:pPr>
              <a:spcAft>
                <a:spcPts val="0"/>
              </a:spcAft>
              <a:defRPr sz="1900" b="1">
                <a:solidFill>
                  <a:srgbClr val="20362E"/>
                </a:solidFill>
                <a:latin typeface="Aptos"/>
              </a:defRPr>
            </a:pPr>
            <a:r>
              <a:t>SEARCH</a:t>
            </a:r>
          </a:p>
        </p:txBody>
      </p:sp>
      <p:sp>
        <p:nvSpPr>
          <p:cNvPr id="13" name="TextBox 12"/>
          <p:cNvSpPr txBox="1"/>
          <p:nvPr/>
        </p:nvSpPr>
        <p:spPr>
          <a:xfrm>
            <a:off x="905256" y="2514600"/>
            <a:ext cx="2971800" cy="2404872"/>
          </a:xfrm>
          <a:prstGeom prst="rect">
            <a:avLst/>
          </a:prstGeom>
          <a:noFill/>
        </p:spPr>
        <p:txBody>
          <a:bodyPr wrap="square" lIns="13716" rIns="13716" tIns="13716" bIns="13716" anchor="t">
            <a:spAutoFit/>
          </a:bodyPr>
          <a:lstStyle/>
          <a:p>
            <a:pPr>
              <a:spcAft>
                <a:spcPts val="0"/>
              </a:spcAft>
              <a:defRPr sz="1700" b="0">
                <a:solidFill>
                  <a:srgbClr val="5B6F63"/>
                </a:solidFill>
                <a:latin typeface="Aptos"/>
              </a:defRPr>
            </a:pPr>
            <a:r>
              <a:t>Jobs and artisans can be filtered by skill and searched by place or keyword. B-tree and full-text indexes support those queries.</a:t>
            </a:r>
          </a:p>
        </p:txBody>
      </p:sp>
      <p:sp>
        <p:nvSpPr>
          <p:cNvPr id="14" name="Rounded Rectangle 13"/>
          <p:cNvSpPr/>
          <p:nvPr/>
        </p:nvSpPr>
        <p:spPr>
          <a:xfrm>
            <a:off x="4370832" y="1874519"/>
            <a:ext cx="3447288" cy="3136392"/>
          </a:xfrm>
          <a:prstGeom prst="roundRect">
            <a:avLst>
              <a:gd name="adj" fmla="val 6000"/>
            </a:avLst>
          </a:prstGeom>
          <a:solidFill>
            <a:srgbClr val="EEE7DE"/>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70832" y="1874519"/>
            <a:ext cx="64008" cy="3136392"/>
          </a:xfrm>
          <a:prstGeom prst="rect">
            <a:avLst/>
          </a:prstGeom>
          <a:solidFill>
            <a:srgbClr val="A86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576" y="2048255"/>
            <a:ext cx="2990088" cy="365760"/>
          </a:xfrm>
          <a:prstGeom prst="rect">
            <a:avLst/>
          </a:prstGeom>
          <a:noFill/>
        </p:spPr>
        <p:txBody>
          <a:bodyPr wrap="square" lIns="13716" rIns="13716" tIns="13716" bIns="13716" anchor="t">
            <a:spAutoFit/>
          </a:bodyPr>
          <a:lstStyle/>
          <a:p>
            <a:pPr>
              <a:spcAft>
                <a:spcPts val="0"/>
              </a:spcAft>
              <a:defRPr sz="1900" b="1">
                <a:solidFill>
                  <a:srgbClr val="20362E"/>
                </a:solidFill>
                <a:latin typeface="Aptos"/>
              </a:defRPr>
            </a:pPr>
            <a:r>
              <a:t>EXPLAINABLE FIT</a:t>
            </a:r>
          </a:p>
        </p:txBody>
      </p:sp>
      <p:sp>
        <p:nvSpPr>
          <p:cNvPr id="17" name="TextBox 16"/>
          <p:cNvSpPr txBox="1"/>
          <p:nvPr/>
        </p:nvSpPr>
        <p:spPr>
          <a:xfrm>
            <a:off x="4608576" y="2514600"/>
            <a:ext cx="2971800" cy="2404872"/>
          </a:xfrm>
          <a:prstGeom prst="rect">
            <a:avLst/>
          </a:prstGeom>
          <a:noFill/>
        </p:spPr>
        <p:txBody>
          <a:bodyPr wrap="square" lIns="13716" rIns="13716" tIns="13716" bIns="13716" anchor="t">
            <a:spAutoFit/>
          </a:bodyPr>
          <a:lstStyle/>
          <a:p>
            <a:pPr>
              <a:spcAft>
                <a:spcPts val="0"/>
              </a:spcAft>
              <a:defRPr sz="1700" b="0">
                <a:solidFill>
                  <a:srgbClr val="5B6F63"/>
                </a:solidFill>
                <a:latin typeface="Aptos"/>
              </a:defRPr>
            </a:pPr>
            <a:r>
              <a:t>A simple 0–3 score prefers the same skill (2 points) and same city (1 point). It is inspectable, not an AI prediction.</a:t>
            </a:r>
          </a:p>
        </p:txBody>
      </p:sp>
      <p:sp>
        <p:nvSpPr>
          <p:cNvPr id="18" name="Rounded Rectangle 17"/>
          <p:cNvSpPr/>
          <p:nvPr/>
        </p:nvSpPr>
        <p:spPr>
          <a:xfrm>
            <a:off x="8083296" y="1874519"/>
            <a:ext cx="3447288" cy="3136392"/>
          </a:xfrm>
          <a:prstGeom prst="roundRect">
            <a:avLst>
              <a:gd name="adj" fmla="val 6000"/>
            </a:avLst>
          </a:prstGeom>
          <a:solidFill>
            <a:srgbClr val="E4ECE4"/>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1874519"/>
            <a:ext cx="64008" cy="3136392"/>
          </a:xfrm>
          <a:prstGeom prst="rect">
            <a:avLst/>
          </a:prstGeom>
          <a:solidFill>
            <a:srgbClr val="42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2048255"/>
            <a:ext cx="2990088" cy="365760"/>
          </a:xfrm>
          <a:prstGeom prst="rect">
            <a:avLst/>
          </a:prstGeom>
          <a:noFill/>
        </p:spPr>
        <p:txBody>
          <a:bodyPr wrap="square" lIns="13716" rIns="13716" tIns="13716" bIns="13716" anchor="t">
            <a:spAutoFit/>
          </a:bodyPr>
          <a:lstStyle/>
          <a:p>
            <a:pPr>
              <a:spcAft>
                <a:spcPts val="0"/>
              </a:spcAft>
              <a:defRPr sz="1900" b="1">
                <a:solidFill>
                  <a:srgbClr val="20362E"/>
                </a:solidFill>
                <a:latin typeface="Aptos"/>
              </a:defRPr>
            </a:pPr>
            <a:r>
              <a:t>ROW SECURITY</a:t>
            </a:r>
          </a:p>
        </p:txBody>
      </p:sp>
      <p:sp>
        <p:nvSpPr>
          <p:cNvPr id="21" name="TextBox 20"/>
          <p:cNvSpPr txBox="1"/>
          <p:nvPr/>
        </p:nvSpPr>
        <p:spPr>
          <a:xfrm>
            <a:off x="8321040" y="2514600"/>
            <a:ext cx="2971800" cy="2404872"/>
          </a:xfrm>
          <a:prstGeom prst="rect">
            <a:avLst/>
          </a:prstGeom>
          <a:noFill/>
        </p:spPr>
        <p:txBody>
          <a:bodyPr wrap="square" lIns="13716" rIns="13716" tIns="13716" bIns="13716" anchor="t">
            <a:spAutoFit/>
          </a:bodyPr>
          <a:lstStyle/>
          <a:p>
            <a:pPr>
              <a:spcAft>
                <a:spcPts val="0"/>
              </a:spcAft>
              <a:defRPr sz="1700" b="0">
                <a:solidFill>
                  <a:srgbClr val="5B6F63"/>
                </a:solidFill>
                <a:latin typeface="Aptos"/>
              </a:defRPr>
            </a:pPr>
            <a:r>
              <a:t>A restricted database role and row-level policies limit access to a person's private bids, contracts and events.</a:t>
            </a:r>
          </a:p>
        </p:txBody>
      </p:sp>
      <p:sp>
        <p:nvSpPr>
          <p:cNvPr id="22" name="TextBox 21"/>
          <p:cNvSpPr txBox="1"/>
          <p:nvPr/>
        </p:nvSpPr>
        <p:spPr>
          <a:xfrm>
            <a:off x="941832" y="5486400"/>
            <a:ext cx="10241280" cy="411480"/>
          </a:xfrm>
          <a:prstGeom prst="rect">
            <a:avLst/>
          </a:prstGeom>
          <a:noFill/>
        </p:spPr>
        <p:txBody>
          <a:bodyPr wrap="square" lIns="13716" rIns="13716" tIns="13716" bIns="13716" anchor="t">
            <a:spAutoFit/>
          </a:bodyPr>
          <a:lstStyle/>
          <a:p>
            <a:pPr algn="ctr">
              <a:spcAft>
                <a:spcPts val="0"/>
              </a:spcAft>
              <a:defRPr sz="1700" b="0">
                <a:solidFill>
                  <a:srgbClr val="5B6F63"/>
                </a:solidFill>
                <a:latin typeface="Aptos"/>
              </a:defRPr>
            </a:pPr>
            <a:r>
              <a:t>Public artisan reputation appears through limited views; private account fields stay private.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4937760" cy="237744"/>
          </a:xfrm>
          <a:prstGeom prst="rect">
            <a:avLst/>
          </a:prstGeom>
          <a:noFill/>
        </p:spPr>
        <p:txBody>
          <a:bodyPr wrap="square" lIns="13716" rIns="13716" tIns="13716" bIns="13716" anchor="t">
            <a:spAutoFit/>
          </a:bodyPr>
          <a:lstStyle/>
          <a:p>
            <a:pPr>
              <a:spcAft>
                <a:spcPts val="0"/>
              </a:spcAft>
              <a:defRPr sz="1000" b="1">
                <a:solidFill>
                  <a:srgbClr val="426A54"/>
                </a:solidFill>
                <a:latin typeface="Aptos"/>
              </a:defRPr>
            </a:pPr>
            <a:r>
              <a:t>SKILLCRAFT  /  DBTHON 2026</a:t>
            </a:r>
          </a:p>
        </p:txBody>
      </p:sp>
      <p:sp>
        <p:nvSpPr>
          <p:cNvPr id="4" name="TextBox 3"/>
          <p:cNvSpPr txBox="1"/>
          <p:nvPr/>
        </p:nvSpPr>
        <p:spPr>
          <a:xfrm>
            <a:off x="9144000" y="256032"/>
            <a:ext cx="2496312" cy="237744"/>
          </a:xfrm>
          <a:prstGeom prst="rect">
            <a:avLst/>
          </a:prstGeom>
          <a:noFill/>
        </p:spPr>
        <p:txBody>
          <a:bodyPr wrap="square" lIns="13716" rIns="13716" tIns="13716" bIns="13716" anchor="t">
            <a:spAutoFit/>
          </a:bodyPr>
          <a:lstStyle/>
          <a:p>
            <a:pPr algn="r">
              <a:spcAft>
                <a:spcPts val="0"/>
              </a:spcAft>
              <a:defRPr sz="1000" b="1">
                <a:solidFill>
                  <a:srgbClr val="5B6F63"/>
                </a:solidFill>
                <a:latin typeface="Aptos"/>
              </a:defRPr>
            </a:pPr>
            <a:r>
              <a:t>VALIDATION · 3 MARKS</a:t>
            </a:r>
          </a:p>
        </p:txBody>
      </p:sp>
      <p:sp>
        <p:nvSpPr>
          <p:cNvPr id="5" name="TextBox 4"/>
          <p:cNvSpPr txBox="1"/>
          <p:nvPr/>
        </p:nvSpPr>
        <p:spPr>
          <a:xfrm>
            <a:off x="502920" y="640080"/>
            <a:ext cx="11064240" cy="530352"/>
          </a:xfrm>
          <a:prstGeom prst="rect">
            <a:avLst/>
          </a:prstGeom>
          <a:noFill/>
        </p:spPr>
        <p:txBody>
          <a:bodyPr wrap="square" lIns="13716" rIns="13716" tIns="13716" bIns="13716" anchor="t">
            <a:spAutoFit/>
          </a:bodyPr>
          <a:lstStyle/>
          <a:p>
            <a:pPr>
              <a:spcAft>
                <a:spcPts val="0"/>
              </a:spcAft>
              <a:defRPr sz="3000" b="1">
                <a:solidFill>
                  <a:srgbClr val="20362E"/>
                </a:solidFill>
                <a:latin typeface="Aptos"/>
              </a:defRPr>
            </a:pPr>
            <a:r>
              <a:t>What we have actually validated</a:t>
            </a:r>
          </a:p>
        </p:txBody>
      </p:sp>
      <p:sp>
        <p:nvSpPr>
          <p:cNvPr id="6" name="TextBox 5"/>
          <p:cNvSpPr txBox="1"/>
          <p:nvPr/>
        </p:nvSpPr>
        <p:spPr>
          <a:xfrm>
            <a:off x="521207" y="1234440"/>
            <a:ext cx="10972800" cy="411480"/>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Functional evidence is strong; performance and social impact still need measurement.</a:t>
            </a:r>
          </a:p>
        </p:txBody>
      </p:sp>
      <p:cxnSp>
        <p:nvCxnSpPr>
          <p:cNvPr id="7" name="Connector 6"/>
          <p:cNvCxnSpPr/>
          <p:nvPr/>
        </p:nvCxnSpPr>
        <p:spPr>
          <a:xfrm>
            <a:off x="502920" y="6501384"/>
            <a:ext cx="11183112" cy="0"/>
          </a:xfrm>
          <a:prstGeom prst="line">
            <a:avLst/>
          </a:prstGeom>
          <a:ln w="12700">
            <a:solidFill>
              <a:srgbClr val="CDD8CD"/>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12064" y="6556248"/>
            <a:ext cx="6400800" cy="182880"/>
          </a:xfrm>
          <a:prstGeom prst="rect">
            <a:avLst/>
          </a:prstGeom>
          <a:noFill/>
        </p:spPr>
        <p:txBody>
          <a:bodyPr wrap="square" lIns="13716" rIns="13716" tIns="13716" bIns="13716" anchor="t">
            <a:spAutoFit/>
          </a:bodyPr>
          <a:lstStyle/>
          <a:p>
            <a:pPr>
              <a:spcAft>
                <a:spcPts val="0"/>
              </a:spcAft>
              <a:defRPr sz="900" b="0">
                <a:solidFill>
                  <a:srgbClr val="5B6F63"/>
                </a:solidFill>
                <a:latin typeface="Aptos"/>
              </a:defRPr>
            </a:pPr>
            <a:r>
              <a:t>SkillCraft  •  database systems prototype</a:t>
            </a:r>
          </a:p>
        </p:txBody>
      </p:sp>
      <p:sp>
        <p:nvSpPr>
          <p:cNvPr id="9" name="TextBox 8"/>
          <p:cNvSpPr txBox="1"/>
          <p:nvPr/>
        </p:nvSpPr>
        <p:spPr>
          <a:xfrm>
            <a:off x="11082528" y="6547104"/>
            <a:ext cx="548640" cy="182880"/>
          </a:xfrm>
          <a:prstGeom prst="rect">
            <a:avLst/>
          </a:prstGeom>
          <a:noFill/>
        </p:spPr>
        <p:txBody>
          <a:bodyPr wrap="square" lIns="13716" rIns="13716" tIns="13716" bIns="13716" anchor="t">
            <a:spAutoFit/>
          </a:bodyPr>
          <a:lstStyle/>
          <a:p>
            <a:pPr algn="r">
              <a:spcAft>
                <a:spcPts val="0"/>
              </a:spcAft>
              <a:defRPr sz="900" b="0">
                <a:solidFill>
                  <a:srgbClr val="5B6F63"/>
                </a:solidFill>
                <a:latin typeface="Aptos"/>
              </a:defRPr>
            </a:pPr>
            <a:r>
              <a:t>11</a:t>
            </a:r>
          </a:p>
        </p:txBody>
      </p:sp>
      <p:sp>
        <p:nvSpPr>
          <p:cNvPr id="10" name="Rounded Rectangle 9"/>
          <p:cNvSpPr/>
          <p:nvPr/>
        </p:nvSpPr>
        <p:spPr>
          <a:xfrm>
            <a:off x="658368" y="1837943"/>
            <a:ext cx="3438144" cy="2688336"/>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837943"/>
            <a:ext cx="64008" cy="2688336"/>
          </a:xfrm>
          <a:prstGeom prst="rect">
            <a:avLst/>
          </a:prstGeom>
          <a:solidFill>
            <a:srgbClr val="42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011679"/>
            <a:ext cx="2980944" cy="365760"/>
          </a:xfrm>
          <a:prstGeom prst="rect">
            <a:avLst/>
          </a:prstGeom>
          <a:noFill/>
        </p:spPr>
        <p:txBody>
          <a:bodyPr wrap="square" lIns="13716" rIns="13716" tIns="13716" bIns="13716" anchor="t">
            <a:spAutoFit/>
          </a:bodyPr>
          <a:lstStyle/>
          <a:p>
            <a:pPr>
              <a:spcAft>
                <a:spcPts val="0"/>
              </a:spcAft>
              <a:defRPr sz="1900" b="1">
                <a:solidFill>
                  <a:srgbClr val="20362E"/>
                </a:solidFill>
                <a:latin typeface="Aptos"/>
              </a:defRPr>
            </a:pPr>
            <a:r>
              <a:t>API + SCHEMA</a:t>
            </a:r>
          </a:p>
        </p:txBody>
      </p:sp>
      <p:sp>
        <p:nvSpPr>
          <p:cNvPr id="13" name="TextBox 12"/>
          <p:cNvSpPr txBox="1"/>
          <p:nvPr/>
        </p:nvSpPr>
        <p:spPr>
          <a:xfrm>
            <a:off x="896112" y="2478024"/>
            <a:ext cx="2962656" cy="1956815"/>
          </a:xfrm>
          <a:prstGeom prst="rect">
            <a:avLst/>
          </a:prstGeom>
          <a:noFill/>
        </p:spPr>
        <p:txBody>
          <a:bodyPr wrap="square" lIns="13716" rIns="13716" tIns="13716" bIns="13716" anchor="t">
            <a:spAutoFit/>
          </a:bodyPr>
          <a:lstStyle/>
          <a:p>
            <a:pPr>
              <a:spcAft>
                <a:spcPts val="0"/>
              </a:spcAft>
              <a:defRPr sz="1700" b="0">
                <a:solidFill>
                  <a:srgbClr val="5B6F63"/>
                </a:solidFill>
                <a:latin typeface="Aptos"/>
              </a:defRPr>
            </a:pPr>
            <a:r>
              <a:t>Checks the full job-to-review flow, foreign-key relationships, audit immutability, and ownership rules.</a:t>
            </a:r>
          </a:p>
        </p:txBody>
      </p:sp>
      <p:sp>
        <p:nvSpPr>
          <p:cNvPr id="14" name="Rounded Rectangle 13"/>
          <p:cNvSpPr/>
          <p:nvPr/>
        </p:nvSpPr>
        <p:spPr>
          <a:xfrm>
            <a:off x="4370832" y="1837943"/>
            <a:ext cx="3438144" cy="2688336"/>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70832" y="1837943"/>
            <a:ext cx="64008" cy="2688336"/>
          </a:xfrm>
          <a:prstGeom prst="rect">
            <a:avLst/>
          </a:prstGeom>
          <a:solidFill>
            <a:srgbClr val="42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576" y="2011679"/>
            <a:ext cx="2980944" cy="365760"/>
          </a:xfrm>
          <a:prstGeom prst="rect">
            <a:avLst/>
          </a:prstGeom>
          <a:noFill/>
        </p:spPr>
        <p:txBody>
          <a:bodyPr wrap="square" lIns="13716" rIns="13716" tIns="13716" bIns="13716" anchor="t">
            <a:spAutoFit/>
          </a:bodyPr>
          <a:lstStyle/>
          <a:p>
            <a:pPr>
              <a:spcAft>
                <a:spcPts val="0"/>
              </a:spcAft>
              <a:defRPr sz="1900" b="1">
                <a:solidFill>
                  <a:srgbClr val="20362E"/>
                </a:solidFill>
                <a:latin typeface="Aptos"/>
              </a:defRPr>
            </a:pPr>
            <a:r>
              <a:t>24 JEST CASES</a:t>
            </a:r>
          </a:p>
        </p:txBody>
      </p:sp>
      <p:sp>
        <p:nvSpPr>
          <p:cNvPr id="17" name="TextBox 16"/>
          <p:cNvSpPr txBox="1"/>
          <p:nvPr/>
        </p:nvSpPr>
        <p:spPr>
          <a:xfrm>
            <a:off x="4608576" y="2478024"/>
            <a:ext cx="2962656" cy="1956815"/>
          </a:xfrm>
          <a:prstGeom prst="rect">
            <a:avLst/>
          </a:prstGeom>
          <a:noFill/>
        </p:spPr>
        <p:txBody>
          <a:bodyPr wrap="square" lIns="13716" rIns="13716" tIns="13716" bIns="13716" anchor="t">
            <a:spAutoFit/>
          </a:bodyPr>
          <a:lstStyle/>
          <a:p>
            <a:pPr>
              <a:spcAft>
                <a:spcPts val="0"/>
              </a:spcAft>
              <a:defRPr sz="1700" b="0">
                <a:solidFill>
                  <a:srgbClr val="5B6F63"/>
                </a:solidFill>
                <a:latin typeface="Aptos"/>
              </a:defRPr>
            </a:pPr>
            <a:r>
              <a:t>20 CRUD cases plus 4 concurrency and integrity cases passed on fresh local PGlite databases.</a:t>
            </a:r>
          </a:p>
        </p:txBody>
      </p:sp>
      <p:sp>
        <p:nvSpPr>
          <p:cNvPr id="18" name="Rounded Rectangle 17"/>
          <p:cNvSpPr/>
          <p:nvPr/>
        </p:nvSpPr>
        <p:spPr>
          <a:xfrm>
            <a:off x="8083296" y="1837943"/>
            <a:ext cx="3438144" cy="2688336"/>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1837943"/>
            <a:ext cx="64008" cy="2688336"/>
          </a:xfrm>
          <a:prstGeom prst="rect">
            <a:avLst/>
          </a:prstGeom>
          <a:solidFill>
            <a:srgbClr val="42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2011679"/>
            <a:ext cx="2980944" cy="365760"/>
          </a:xfrm>
          <a:prstGeom prst="rect">
            <a:avLst/>
          </a:prstGeom>
          <a:noFill/>
        </p:spPr>
        <p:txBody>
          <a:bodyPr wrap="square" lIns="13716" rIns="13716" tIns="13716" bIns="13716" anchor="t">
            <a:spAutoFit/>
          </a:bodyPr>
          <a:lstStyle/>
          <a:p>
            <a:pPr>
              <a:spcAft>
                <a:spcPts val="0"/>
              </a:spcAft>
              <a:defRPr sz="1900" b="1">
                <a:solidFill>
                  <a:srgbClr val="20362E"/>
                </a:solidFill>
                <a:latin typeface="Aptos"/>
              </a:defRPr>
            </a:pPr>
            <a:r>
              <a:t>2 BROWSER FLOWS</a:t>
            </a:r>
          </a:p>
        </p:txBody>
      </p:sp>
      <p:sp>
        <p:nvSpPr>
          <p:cNvPr id="21" name="TextBox 20"/>
          <p:cNvSpPr txBox="1"/>
          <p:nvPr/>
        </p:nvSpPr>
        <p:spPr>
          <a:xfrm>
            <a:off x="8321040" y="2478024"/>
            <a:ext cx="2962656" cy="1956815"/>
          </a:xfrm>
          <a:prstGeom prst="rect">
            <a:avLst/>
          </a:prstGeom>
          <a:noFill/>
        </p:spPr>
        <p:txBody>
          <a:bodyPr wrap="square" lIns="13716" rIns="13716" tIns="13716" bIns="13716" anchor="t">
            <a:spAutoFit/>
          </a:bodyPr>
          <a:lstStyle/>
          <a:p>
            <a:pPr>
              <a:spcAft>
                <a:spcPts val="0"/>
              </a:spcAft>
              <a:defRPr sz="1700" b="0">
                <a:solidFill>
                  <a:srgbClr val="5B6F63"/>
                </a:solidFill>
                <a:latin typeface="Aptos"/>
              </a:defRPr>
            </a:pPr>
            <a:r>
              <a:t>Visual demo mode checks interface flow and mobile layout; it does not exercise the live database.</a:t>
            </a:r>
          </a:p>
        </p:txBody>
      </p:sp>
      <p:sp>
        <p:nvSpPr>
          <p:cNvPr id="22" name="Rounded Rectangle 21"/>
          <p:cNvSpPr/>
          <p:nvPr/>
        </p:nvSpPr>
        <p:spPr>
          <a:xfrm>
            <a:off x="1115568" y="4983480"/>
            <a:ext cx="9957816" cy="758952"/>
          </a:xfrm>
          <a:prstGeom prst="roundRect">
            <a:avLst>
              <a:gd name="adj" fmla="val 6000"/>
            </a:avLst>
          </a:prstGeom>
          <a:solidFill>
            <a:srgbClr val="EEE7DE"/>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99032" y="5166360"/>
            <a:ext cx="9390888" cy="384048"/>
          </a:xfrm>
          <a:prstGeom prst="rect">
            <a:avLst/>
          </a:prstGeom>
          <a:noFill/>
        </p:spPr>
        <p:txBody>
          <a:bodyPr wrap="square" lIns="13716" rIns="13716" tIns="13716" bIns="13716" anchor="t">
            <a:spAutoFit/>
          </a:bodyPr>
          <a:lstStyle/>
          <a:p>
            <a:pPr algn="ctr">
              <a:spcAft>
                <a:spcPts val="0"/>
              </a:spcAft>
              <a:defRPr sz="1600" b="0">
                <a:solidFill>
                  <a:srgbClr val="20362E"/>
                </a:solidFill>
                <a:latin typeface="Aptos"/>
              </a:defRPr>
            </a:pPr>
            <a:r>
              <a:t>Next evidence: benchmark indexed search vs. a baseline on native PostgreSQL; measure fit quality with labeled examples.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4937760" cy="237744"/>
          </a:xfrm>
          <a:prstGeom prst="rect">
            <a:avLst/>
          </a:prstGeom>
          <a:noFill/>
        </p:spPr>
        <p:txBody>
          <a:bodyPr wrap="square" lIns="13716" rIns="13716" tIns="13716" bIns="13716" anchor="t">
            <a:spAutoFit/>
          </a:bodyPr>
          <a:lstStyle/>
          <a:p>
            <a:pPr>
              <a:spcAft>
                <a:spcPts val="0"/>
              </a:spcAft>
              <a:defRPr sz="1000" b="1">
                <a:solidFill>
                  <a:srgbClr val="426A54"/>
                </a:solidFill>
                <a:latin typeface="Aptos"/>
              </a:defRPr>
            </a:pPr>
            <a:r>
              <a:t>SKILLCRAFT  /  DBTHON 2026</a:t>
            </a:r>
          </a:p>
        </p:txBody>
      </p:sp>
      <p:sp>
        <p:nvSpPr>
          <p:cNvPr id="4" name="TextBox 3"/>
          <p:cNvSpPr txBox="1"/>
          <p:nvPr/>
        </p:nvSpPr>
        <p:spPr>
          <a:xfrm>
            <a:off x="9144000" y="256032"/>
            <a:ext cx="2496312" cy="237744"/>
          </a:xfrm>
          <a:prstGeom prst="rect">
            <a:avLst/>
          </a:prstGeom>
          <a:noFill/>
        </p:spPr>
        <p:txBody>
          <a:bodyPr wrap="square" lIns="13716" rIns="13716" tIns="13716" bIns="13716" anchor="t">
            <a:spAutoFit/>
          </a:bodyPr>
          <a:lstStyle/>
          <a:p>
            <a:pPr algn="r">
              <a:spcAft>
                <a:spcPts val="0"/>
              </a:spcAft>
              <a:defRPr sz="1000" b="1">
                <a:solidFill>
                  <a:srgbClr val="5B6F63"/>
                </a:solidFill>
                <a:latin typeface="Aptos"/>
              </a:defRPr>
            </a:pPr>
            <a:r>
              <a:t>RUBRIC / 30 MARKS</a:t>
            </a:r>
          </a:p>
        </p:txBody>
      </p:sp>
      <p:sp>
        <p:nvSpPr>
          <p:cNvPr id="5" name="TextBox 4"/>
          <p:cNvSpPr txBox="1"/>
          <p:nvPr/>
        </p:nvSpPr>
        <p:spPr>
          <a:xfrm>
            <a:off x="502920" y="640080"/>
            <a:ext cx="11064240" cy="530352"/>
          </a:xfrm>
          <a:prstGeom prst="rect">
            <a:avLst/>
          </a:prstGeom>
          <a:noFill/>
        </p:spPr>
        <p:txBody>
          <a:bodyPr wrap="square" lIns="13716" rIns="13716" tIns="13716" bIns="13716" anchor="t">
            <a:spAutoFit/>
          </a:bodyPr>
          <a:lstStyle/>
          <a:p>
            <a:pPr>
              <a:spcAft>
                <a:spcPts val="0"/>
              </a:spcAft>
              <a:defRPr sz="3000" b="1">
                <a:solidFill>
                  <a:srgbClr val="20362E"/>
                </a:solidFill>
                <a:latin typeface="Aptos"/>
              </a:defRPr>
            </a:pPr>
            <a:r>
              <a:t>What the panel grades · part 1</a:t>
            </a:r>
          </a:p>
        </p:txBody>
      </p:sp>
      <p:sp>
        <p:nvSpPr>
          <p:cNvPr id="6" name="TextBox 5"/>
          <p:cNvSpPr txBox="1"/>
          <p:nvPr/>
        </p:nvSpPr>
        <p:spPr>
          <a:xfrm>
            <a:off x="521207" y="1234440"/>
            <a:ext cx="10972800" cy="411480"/>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The numbers are available marks, not a score awarded to this project.</a:t>
            </a:r>
          </a:p>
        </p:txBody>
      </p:sp>
      <p:cxnSp>
        <p:nvCxnSpPr>
          <p:cNvPr id="7" name="Connector 6"/>
          <p:cNvCxnSpPr/>
          <p:nvPr/>
        </p:nvCxnSpPr>
        <p:spPr>
          <a:xfrm>
            <a:off x="502920" y="6501384"/>
            <a:ext cx="11183112" cy="0"/>
          </a:xfrm>
          <a:prstGeom prst="line">
            <a:avLst/>
          </a:prstGeom>
          <a:ln w="12700">
            <a:solidFill>
              <a:srgbClr val="CDD8CD"/>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12064" y="6556248"/>
            <a:ext cx="6400800" cy="182880"/>
          </a:xfrm>
          <a:prstGeom prst="rect">
            <a:avLst/>
          </a:prstGeom>
          <a:noFill/>
        </p:spPr>
        <p:txBody>
          <a:bodyPr wrap="square" lIns="13716" rIns="13716" tIns="13716" bIns="13716" anchor="t">
            <a:spAutoFit/>
          </a:bodyPr>
          <a:lstStyle/>
          <a:p>
            <a:pPr>
              <a:spcAft>
                <a:spcPts val="0"/>
              </a:spcAft>
              <a:defRPr sz="900" b="0">
                <a:solidFill>
                  <a:srgbClr val="5B6F63"/>
                </a:solidFill>
                <a:latin typeface="Aptos"/>
              </a:defRPr>
            </a:pPr>
            <a:r>
              <a:t>SkillCraft  •  database systems prototype</a:t>
            </a:r>
          </a:p>
        </p:txBody>
      </p:sp>
      <p:sp>
        <p:nvSpPr>
          <p:cNvPr id="9" name="TextBox 8"/>
          <p:cNvSpPr txBox="1"/>
          <p:nvPr/>
        </p:nvSpPr>
        <p:spPr>
          <a:xfrm>
            <a:off x="11082528" y="6547104"/>
            <a:ext cx="548640" cy="182880"/>
          </a:xfrm>
          <a:prstGeom prst="rect">
            <a:avLst/>
          </a:prstGeom>
          <a:noFill/>
        </p:spPr>
        <p:txBody>
          <a:bodyPr wrap="square" lIns="13716" rIns="13716" tIns="13716" bIns="13716" anchor="t">
            <a:spAutoFit/>
          </a:bodyPr>
          <a:lstStyle/>
          <a:p>
            <a:pPr algn="r">
              <a:spcAft>
                <a:spcPts val="0"/>
              </a:spcAft>
              <a:defRPr sz="900" b="0">
                <a:solidFill>
                  <a:srgbClr val="5B6F63"/>
                </a:solidFill>
                <a:latin typeface="Aptos"/>
              </a:defRPr>
            </a:pPr>
            <a:r>
              <a:t>12</a:t>
            </a:r>
          </a:p>
        </p:txBody>
      </p:sp>
      <p:sp>
        <p:nvSpPr>
          <p:cNvPr id="10" name="Rounded Rectangle 9"/>
          <p:cNvSpPr/>
          <p:nvPr/>
        </p:nvSpPr>
        <p:spPr>
          <a:xfrm>
            <a:off x="694944" y="1773936"/>
            <a:ext cx="10799064" cy="877824"/>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14400" y="1938528"/>
            <a:ext cx="612648" cy="521207"/>
          </a:xfrm>
          <a:prstGeom prst="roundRect">
            <a:avLst>
              <a:gd name="adj" fmla="val 6000"/>
            </a:avLst>
          </a:prstGeom>
          <a:solidFill>
            <a:srgbClr val="E4E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2029967"/>
            <a:ext cx="374904" cy="283464"/>
          </a:xfrm>
          <a:prstGeom prst="rect">
            <a:avLst/>
          </a:prstGeom>
          <a:noFill/>
        </p:spPr>
        <p:txBody>
          <a:bodyPr wrap="square" lIns="13716" rIns="13716" tIns="13716" bIns="13716" anchor="t">
            <a:spAutoFit/>
          </a:bodyPr>
          <a:lstStyle/>
          <a:p>
            <a:pPr algn="ctr">
              <a:spcAft>
                <a:spcPts val="0"/>
              </a:spcAft>
              <a:defRPr sz="1800" b="1">
                <a:solidFill>
                  <a:srgbClr val="426A54"/>
                </a:solidFill>
                <a:latin typeface="Aptos"/>
              </a:defRPr>
            </a:pPr>
            <a:r>
              <a:t>4</a:t>
            </a:r>
          </a:p>
        </p:txBody>
      </p:sp>
      <p:sp>
        <p:nvSpPr>
          <p:cNvPr id="13" name="TextBox 12"/>
          <p:cNvSpPr txBox="1"/>
          <p:nvPr/>
        </p:nvSpPr>
        <p:spPr>
          <a:xfrm>
            <a:off x="1810512" y="1929384"/>
            <a:ext cx="2752344" cy="384048"/>
          </a:xfrm>
          <a:prstGeom prst="rect">
            <a:avLst/>
          </a:prstGeom>
          <a:noFill/>
        </p:spPr>
        <p:txBody>
          <a:bodyPr wrap="square" lIns="13716" rIns="13716" tIns="13716" bIns="13716" anchor="t">
            <a:spAutoFit/>
          </a:bodyPr>
          <a:lstStyle/>
          <a:p>
            <a:pPr>
              <a:spcAft>
                <a:spcPts val="0"/>
              </a:spcAft>
              <a:defRPr sz="1900" b="1">
                <a:solidFill>
                  <a:srgbClr val="20362E"/>
                </a:solidFill>
                <a:latin typeface="Aptos"/>
              </a:defRPr>
            </a:pPr>
            <a:r>
              <a:t>Problem + domain</a:t>
            </a:r>
          </a:p>
        </p:txBody>
      </p:sp>
      <p:sp>
        <p:nvSpPr>
          <p:cNvPr id="14" name="TextBox 13"/>
          <p:cNvSpPr txBox="1"/>
          <p:nvPr/>
        </p:nvSpPr>
        <p:spPr>
          <a:xfrm>
            <a:off x="4690872" y="1929384"/>
            <a:ext cx="6428232" cy="576072"/>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Informal local hiring lacks a reliable, portable record.</a:t>
            </a:r>
          </a:p>
        </p:txBody>
      </p:sp>
      <p:sp>
        <p:nvSpPr>
          <p:cNvPr id="15" name="Rounded Rectangle 14"/>
          <p:cNvSpPr/>
          <p:nvPr/>
        </p:nvSpPr>
        <p:spPr>
          <a:xfrm>
            <a:off x="694944" y="2834639"/>
            <a:ext cx="10799064" cy="877824"/>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4400" y="2999232"/>
            <a:ext cx="612648" cy="521207"/>
          </a:xfrm>
          <a:prstGeom prst="roundRect">
            <a:avLst>
              <a:gd name="adj" fmla="val 6000"/>
            </a:avLst>
          </a:prstGeom>
          <a:solidFill>
            <a:srgbClr val="E4E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3090672"/>
            <a:ext cx="374904" cy="283464"/>
          </a:xfrm>
          <a:prstGeom prst="rect">
            <a:avLst/>
          </a:prstGeom>
          <a:noFill/>
        </p:spPr>
        <p:txBody>
          <a:bodyPr wrap="square" lIns="13716" rIns="13716" tIns="13716" bIns="13716" anchor="t">
            <a:spAutoFit/>
          </a:bodyPr>
          <a:lstStyle/>
          <a:p>
            <a:pPr algn="ctr">
              <a:spcAft>
                <a:spcPts val="0"/>
              </a:spcAft>
              <a:defRPr sz="1800" b="1">
                <a:solidFill>
                  <a:srgbClr val="426A54"/>
                </a:solidFill>
                <a:latin typeface="Aptos"/>
              </a:defRPr>
            </a:pPr>
            <a:r>
              <a:t>5</a:t>
            </a:r>
          </a:p>
        </p:txBody>
      </p:sp>
      <p:sp>
        <p:nvSpPr>
          <p:cNvPr id="18" name="TextBox 17"/>
          <p:cNvSpPr txBox="1"/>
          <p:nvPr/>
        </p:nvSpPr>
        <p:spPr>
          <a:xfrm>
            <a:off x="1810512" y="2990087"/>
            <a:ext cx="2752344" cy="384048"/>
          </a:xfrm>
          <a:prstGeom prst="rect">
            <a:avLst/>
          </a:prstGeom>
          <a:noFill/>
        </p:spPr>
        <p:txBody>
          <a:bodyPr wrap="square" lIns="13716" rIns="13716" tIns="13716" bIns="13716" anchor="t">
            <a:spAutoFit/>
          </a:bodyPr>
          <a:lstStyle/>
          <a:p>
            <a:pPr>
              <a:spcAft>
                <a:spcPts val="0"/>
              </a:spcAft>
              <a:defRPr sz="1900" b="1">
                <a:solidFill>
                  <a:srgbClr val="20362E"/>
                </a:solidFill>
                <a:latin typeface="Aptos"/>
              </a:defRPr>
            </a:pPr>
            <a:r>
              <a:t>Database design</a:t>
            </a:r>
          </a:p>
        </p:txBody>
      </p:sp>
      <p:sp>
        <p:nvSpPr>
          <p:cNvPr id="19" name="TextBox 18"/>
          <p:cNvSpPr txBox="1"/>
          <p:nvPr/>
        </p:nvSpPr>
        <p:spPr>
          <a:xfrm>
            <a:off x="4690872" y="2990087"/>
            <a:ext cx="6428232" cy="576072"/>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Seven linked tables, ER diagram, keys, constraints and normalization.</a:t>
            </a:r>
          </a:p>
        </p:txBody>
      </p:sp>
      <p:sp>
        <p:nvSpPr>
          <p:cNvPr id="20" name="Rounded Rectangle 19"/>
          <p:cNvSpPr/>
          <p:nvPr/>
        </p:nvSpPr>
        <p:spPr>
          <a:xfrm>
            <a:off x="694944" y="3895344"/>
            <a:ext cx="10799064" cy="877824"/>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14400" y="4059935"/>
            <a:ext cx="612648" cy="521207"/>
          </a:xfrm>
          <a:prstGeom prst="roundRect">
            <a:avLst>
              <a:gd name="adj" fmla="val 6000"/>
            </a:avLst>
          </a:prstGeom>
          <a:solidFill>
            <a:srgbClr val="E4E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3271" y="4151376"/>
            <a:ext cx="374904" cy="283464"/>
          </a:xfrm>
          <a:prstGeom prst="rect">
            <a:avLst/>
          </a:prstGeom>
          <a:noFill/>
        </p:spPr>
        <p:txBody>
          <a:bodyPr wrap="square" lIns="13716" rIns="13716" tIns="13716" bIns="13716" anchor="t">
            <a:spAutoFit/>
          </a:bodyPr>
          <a:lstStyle/>
          <a:p>
            <a:pPr algn="ctr">
              <a:spcAft>
                <a:spcPts val="0"/>
              </a:spcAft>
              <a:defRPr sz="1800" b="1">
                <a:solidFill>
                  <a:srgbClr val="426A54"/>
                </a:solidFill>
                <a:latin typeface="Aptos"/>
              </a:defRPr>
            </a:pPr>
            <a:r>
              <a:t>5</a:t>
            </a:r>
          </a:p>
        </p:txBody>
      </p:sp>
      <p:sp>
        <p:nvSpPr>
          <p:cNvPr id="23" name="TextBox 22"/>
          <p:cNvSpPr txBox="1"/>
          <p:nvPr/>
        </p:nvSpPr>
        <p:spPr>
          <a:xfrm>
            <a:off x="1810512" y="4050791"/>
            <a:ext cx="2752344" cy="384048"/>
          </a:xfrm>
          <a:prstGeom prst="rect">
            <a:avLst/>
          </a:prstGeom>
          <a:noFill/>
        </p:spPr>
        <p:txBody>
          <a:bodyPr wrap="square" lIns="13716" rIns="13716" tIns="13716" bIns="13716" anchor="t">
            <a:spAutoFit/>
          </a:bodyPr>
          <a:lstStyle/>
          <a:p>
            <a:pPr>
              <a:spcAft>
                <a:spcPts val="0"/>
              </a:spcAft>
              <a:defRPr sz="1900" b="1">
                <a:solidFill>
                  <a:srgbClr val="20362E"/>
                </a:solidFill>
                <a:latin typeface="Aptos"/>
              </a:defRPr>
            </a:pPr>
            <a:r>
              <a:t>DBMS depth</a:t>
            </a:r>
          </a:p>
        </p:txBody>
      </p:sp>
      <p:sp>
        <p:nvSpPr>
          <p:cNvPr id="24" name="TextBox 23"/>
          <p:cNvSpPr txBox="1"/>
          <p:nvPr/>
        </p:nvSpPr>
        <p:spPr>
          <a:xfrm>
            <a:off x="4690872" y="4050791"/>
            <a:ext cx="6428232" cy="576072"/>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Transactions, triggers, functions, indexes, views and row-level security.</a:t>
            </a:r>
          </a:p>
        </p:txBody>
      </p:sp>
      <p:sp>
        <p:nvSpPr>
          <p:cNvPr id="25" name="Rounded Rectangle 24"/>
          <p:cNvSpPr/>
          <p:nvPr/>
        </p:nvSpPr>
        <p:spPr>
          <a:xfrm>
            <a:off x="694944" y="4956048"/>
            <a:ext cx="10799064" cy="877824"/>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14400" y="5120640"/>
            <a:ext cx="612648" cy="521207"/>
          </a:xfrm>
          <a:prstGeom prst="roundRect">
            <a:avLst>
              <a:gd name="adj" fmla="val 6000"/>
            </a:avLst>
          </a:prstGeom>
          <a:solidFill>
            <a:srgbClr val="E4E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33271" y="5212080"/>
            <a:ext cx="374904" cy="283464"/>
          </a:xfrm>
          <a:prstGeom prst="rect">
            <a:avLst/>
          </a:prstGeom>
          <a:noFill/>
        </p:spPr>
        <p:txBody>
          <a:bodyPr wrap="square" lIns="13716" rIns="13716" tIns="13716" bIns="13716" anchor="t">
            <a:spAutoFit/>
          </a:bodyPr>
          <a:lstStyle/>
          <a:p>
            <a:pPr algn="ctr">
              <a:spcAft>
                <a:spcPts val="0"/>
              </a:spcAft>
              <a:defRPr sz="1800" b="1">
                <a:solidFill>
                  <a:srgbClr val="426A54"/>
                </a:solidFill>
                <a:latin typeface="Aptos"/>
              </a:defRPr>
            </a:pPr>
            <a:r>
              <a:t>4</a:t>
            </a:r>
          </a:p>
        </p:txBody>
      </p:sp>
      <p:sp>
        <p:nvSpPr>
          <p:cNvPr id="28" name="TextBox 27"/>
          <p:cNvSpPr txBox="1"/>
          <p:nvPr/>
        </p:nvSpPr>
        <p:spPr>
          <a:xfrm>
            <a:off x="1810512" y="5111496"/>
            <a:ext cx="2752344" cy="384048"/>
          </a:xfrm>
          <a:prstGeom prst="rect">
            <a:avLst/>
          </a:prstGeom>
          <a:noFill/>
        </p:spPr>
        <p:txBody>
          <a:bodyPr wrap="square" lIns="13716" rIns="13716" tIns="13716" bIns="13716" anchor="t">
            <a:spAutoFit/>
          </a:bodyPr>
          <a:lstStyle/>
          <a:p>
            <a:pPr>
              <a:spcAft>
                <a:spcPts val="0"/>
              </a:spcAft>
              <a:defRPr sz="1900" b="1">
                <a:solidFill>
                  <a:srgbClr val="20362E"/>
                </a:solidFill>
                <a:latin typeface="Aptos"/>
              </a:defRPr>
            </a:pPr>
            <a:r>
              <a:t>Innovation</a:t>
            </a:r>
          </a:p>
        </p:txBody>
      </p:sp>
      <p:sp>
        <p:nvSpPr>
          <p:cNvPr id="29" name="TextBox 28"/>
          <p:cNvSpPr txBox="1"/>
          <p:nvPr/>
        </p:nvSpPr>
        <p:spPr>
          <a:xfrm>
            <a:off x="4690872" y="5111496"/>
            <a:ext cx="6428232" cy="576072"/>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Two-party acknowledgment plus append-only contract events.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4937760" cy="237744"/>
          </a:xfrm>
          <a:prstGeom prst="rect">
            <a:avLst/>
          </a:prstGeom>
          <a:noFill/>
        </p:spPr>
        <p:txBody>
          <a:bodyPr wrap="square" lIns="13716" rIns="13716" tIns="13716" bIns="13716" anchor="t">
            <a:spAutoFit/>
          </a:bodyPr>
          <a:lstStyle/>
          <a:p>
            <a:pPr>
              <a:spcAft>
                <a:spcPts val="0"/>
              </a:spcAft>
              <a:defRPr sz="1000" b="1">
                <a:solidFill>
                  <a:srgbClr val="426A54"/>
                </a:solidFill>
                <a:latin typeface="Aptos"/>
              </a:defRPr>
            </a:pPr>
            <a:r>
              <a:t>SKILLCRAFT  /  DBTHON 2026</a:t>
            </a:r>
          </a:p>
        </p:txBody>
      </p:sp>
      <p:sp>
        <p:nvSpPr>
          <p:cNvPr id="4" name="TextBox 3"/>
          <p:cNvSpPr txBox="1"/>
          <p:nvPr/>
        </p:nvSpPr>
        <p:spPr>
          <a:xfrm>
            <a:off x="9144000" y="256032"/>
            <a:ext cx="2496312" cy="237744"/>
          </a:xfrm>
          <a:prstGeom prst="rect">
            <a:avLst/>
          </a:prstGeom>
          <a:noFill/>
        </p:spPr>
        <p:txBody>
          <a:bodyPr wrap="square" lIns="13716" rIns="13716" tIns="13716" bIns="13716" anchor="t">
            <a:spAutoFit/>
          </a:bodyPr>
          <a:lstStyle/>
          <a:p>
            <a:pPr algn="r">
              <a:spcAft>
                <a:spcPts val="0"/>
              </a:spcAft>
              <a:defRPr sz="1000" b="1">
                <a:solidFill>
                  <a:srgbClr val="5B6F63"/>
                </a:solidFill>
                <a:latin typeface="Aptos"/>
              </a:defRPr>
            </a:pPr>
            <a:r>
              <a:t>RUBRIC / 30 MARKS</a:t>
            </a:r>
          </a:p>
        </p:txBody>
      </p:sp>
      <p:sp>
        <p:nvSpPr>
          <p:cNvPr id="5" name="TextBox 4"/>
          <p:cNvSpPr txBox="1"/>
          <p:nvPr/>
        </p:nvSpPr>
        <p:spPr>
          <a:xfrm>
            <a:off x="502920" y="640080"/>
            <a:ext cx="11064240" cy="530352"/>
          </a:xfrm>
          <a:prstGeom prst="rect">
            <a:avLst/>
          </a:prstGeom>
          <a:noFill/>
        </p:spPr>
        <p:txBody>
          <a:bodyPr wrap="square" lIns="13716" rIns="13716" tIns="13716" bIns="13716" anchor="t">
            <a:spAutoFit/>
          </a:bodyPr>
          <a:lstStyle/>
          <a:p>
            <a:pPr>
              <a:spcAft>
                <a:spcPts val="0"/>
              </a:spcAft>
              <a:defRPr sz="3000" b="1">
                <a:solidFill>
                  <a:srgbClr val="20362E"/>
                </a:solidFill>
                <a:latin typeface="Aptos"/>
              </a:defRPr>
            </a:pPr>
            <a:r>
              <a:t>What the panel grades · part 2</a:t>
            </a:r>
          </a:p>
        </p:txBody>
      </p:sp>
      <p:sp>
        <p:nvSpPr>
          <p:cNvPr id="6" name="TextBox 5"/>
          <p:cNvSpPr txBox="1"/>
          <p:nvPr/>
        </p:nvSpPr>
        <p:spPr>
          <a:xfrm>
            <a:off x="521207" y="1234440"/>
            <a:ext cx="10972800" cy="411480"/>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The claim and the evidence should stay at the same level.</a:t>
            </a:r>
          </a:p>
        </p:txBody>
      </p:sp>
      <p:cxnSp>
        <p:nvCxnSpPr>
          <p:cNvPr id="7" name="Connector 6"/>
          <p:cNvCxnSpPr/>
          <p:nvPr/>
        </p:nvCxnSpPr>
        <p:spPr>
          <a:xfrm>
            <a:off x="502920" y="6501384"/>
            <a:ext cx="11183112" cy="0"/>
          </a:xfrm>
          <a:prstGeom prst="line">
            <a:avLst/>
          </a:prstGeom>
          <a:ln w="12700">
            <a:solidFill>
              <a:srgbClr val="CDD8CD"/>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12064" y="6556248"/>
            <a:ext cx="6400800" cy="182880"/>
          </a:xfrm>
          <a:prstGeom prst="rect">
            <a:avLst/>
          </a:prstGeom>
          <a:noFill/>
        </p:spPr>
        <p:txBody>
          <a:bodyPr wrap="square" lIns="13716" rIns="13716" tIns="13716" bIns="13716" anchor="t">
            <a:spAutoFit/>
          </a:bodyPr>
          <a:lstStyle/>
          <a:p>
            <a:pPr>
              <a:spcAft>
                <a:spcPts val="0"/>
              </a:spcAft>
              <a:defRPr sz="900" b="0">
                <a:solidFill>
                  <a:srgbClr val="5B6F63"/>
                </a:solidFill>
                <a:latin typeface="Aptos"/>
              </a:defRPr>
            </a:pPr>
            <a:r>
              <a:t>SkillCraft  •  database systems prototype</a:t>
            </a:r>
          </a:p>
        </p:txBody>
      </p:sp>
      <p:sp>
        <p:nvSpPr>
          <p:cNvPr id="9" name="TextBox 8"/>
          <p:cNvSpPr txBox="1"/>
          <p:nvPr/>
        </p:nvSpPr>
        <p:spPr>
          <a:xfrm>
            <a:off x="11082528" y="6547104"/>
            <a:ext cx="548640" cy="182880"/>
          </a:xfrm>
          <a:prstGeom prst="rect">
            <a:avLst/>
          </a:prstGeom>
          <a:noFill/>
        </p:spPr>
        <p:txBody>
          <a:bodyPr wrap="square" lIns="13716" rIns="13716" tIns="13716" bIns="13716" anchor="t">
            <a:spAutoFit/>
          </a:bodyPr>
          <a:lstStyle/>
          <a:p>
            <a:pPr algn="r">
              <a:spcAft>
                <a:spcPts val="0"/>
              </a:spcAft>
              <a:defRPr sz="900" b="0">
                <a:solidFill>
                  <a:srgbClr val="5B6F63"/>
                </a:solidFill>
                <a:latin typeface="Aptos"/>
              </a:defRPr>
            </a:pPr>
            <a:r>
              <a:t>13</a:t>
            </a:r>
          </a:p>
        </p:txBody>
      </p:sp>
      <p:sp>
        <p:nvSpPr>
          <p:cNvPr id="10" name="Rounded Rectangle 9"/>
          <p:cNvSpPr/>
          <p:nvPr/>
        </p:nvSpPr>
        <p:spPr>
          <a:xfrm>
            <a:off x="694944" y="1773936"/>
            <a:ext cx="10799064" cy="877824"/>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14400" y="1938528"/>
            <a:ext cx="612648" cy="521207"/>
          </a:xfrm>
          <a:prstGeom prst="roundRect">
            <a:avLst>
              <a:gd name="adj" fmla="val 6000"/>
            </a:avLst>
          </a:prstGeom>
          <a:solidFill>
            <a:srgbClr val="E4E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2029967"/>
            <a:ext cx="374904" cy="283464"/>
          </a:xfrm>
          <a:prstGeom prst="rect">
            <a:avLst/>
          </a:prstGeom>
          <a:noFill/>
        </p:spPr>
        <p:txBody>
          <a:bodyPr wrap="square" lIns="13716" rIns="13716" tIns="13716" bIns="13716" anchor="t">
            <a:spAutoFit/>
          </a:bodyPr>
          <a:lstStyle/>
          <a:p>
            <a:pPr algn="ctr">
              <a:spcAft>
                <a:spcPts val="0"/>
              </a:spcAft>
              <a:defRPr sz="1800" b="1">
                <a:solidFill>
                  <a:srgbClr val="426A54"/>
                </a:solidFill>
                <a:latin typeface="Aptos"/>
              </a:defRPr>
            </a:pPr>
            <a:r>
              <a:t>5</a:t>
            </a:r>
          </a:p>
        </p:txBody>
      </p:sp>
      <p:sp>
        <p:nvSpPr>
          <p:cNvPr id="13" name="TextBox 12"/>
          <p:cNvSpPr txBox="1"/>
          <p:nvPr/>
        </p:nvSpPr>
        <p:spPr>
          <a:xfrm>
            <a:off x="1810512" y="1929384"/>
            <a:ext cx="2752344" cy="384048"/>
          </a:xfrm>
          <a:prstGeom prst="rect">
            <a:avLst/>
          </a:prstGeom>
          <a:noFill/>
        </p:spPr>
        <p:txBody>
          <a:bodyPr wrap="square" lIns="13716" rIns="13716" tIns="13716" bIns="13716" anchor="t">
            <a:spAutoFit/>
          </a:bodyPr>
          <a:lstStyle/>
          <a:p>
            <a:pPr>
              <a:spcAft>
                <a:spcPts val="0"/>
              </a:spcAft>
              <a:defRPr sz="1900" b="1">
                <a:solidFill>
                  <a:srgbClr val="20362E"/>
                </a:solidFill>
                <a:latin typeface="Aptos"/>
              </a:defRPr>
            </a:pPr>
            <a:r>
              <a:t>Novelty</a:t>
            </a:r>
          </a:p>
        </p:txBody>
      </p:sp>
      <p:sp>
        <p:nvSpPr>
          <p:cNvPr id="14" name="TextBox 13"/>
          <p:cNvSpPr txBox="1"/>
          <p:nvPr/>
        </p:nvSpPr>
        <p:spPr>
          <a:xfrm>
            <a:off x="4690872" y="1929384"/>
            <a:ext cx="6428232" cy="576072"/>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Compare with employer-only payment and a plain rating average.</a:t>
            </a:r>
          </a:p>
        </p:txBody>
      </p:sp>
      <p:sp>
        <p:nvSpPr>
          <p:cNvPr id="15" name="Rounded Rectangle 14"/>
          <p:cNvSpPr/>
          <p:nvPr/>
        </p:nvSpPr>
        <p:spPr>
          <a:xfrm>
            <a:off x="694944" y="2834639"/>
            <a:ext cx="10799064" cy="877824"/>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4400" y="2999232"/>
            <a:ext cx="612648" cy="521207"/>
          </a:xfrm>
          <a:prstGeom prst="roundRect">
            <a:avLst>
              <a:gd name="adj" fmla="val 6000"/>
            </a:avLst>
          </a:prstGeom>
          <a:solidFill>
            <a:srgbClr val="E4E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3090672"/>
            <a:ext cx="374904" cy="283464"/>
          </a:xfrm>
          <a:prstGeom prst="rect">
            <a:avLst/>
          </a:prstGeom>
          <a:noFill/>
        </p:spPr>
        <p:txBody>
          <a:bodyPr wrap="square" lIns="13716" rIns="13716" tIns="13716" bIns="13716" anchor="t">
            <a:spAutoFit/>
          </a:bodyPr>
          <a:lstStyle/>
          <a:p>
            <a:pPr algn="ctr">
              <a:spcAft>
                <a:spcPts val="0"/>
              </a:spcAft>
              <a:defRPr sz="1800" b="1">
                <a:solidFill>
                  <a:srgbClr val="426A54"/>
                </a:solidFill>
                <a:latin typeface="Aptos"/>
              </a:defRPr>
            </a:pPr>
            <a:r>
              <a:t>2</a:t>
            </a:r>
          </a:p>
        </p:txBody>
      </p:sp>
      <p:sp>
        <p:nvSpPr>
          <p:cNvPr id="18" name="TextBox 17"/>
          <p:cNvSpPr txBox="1"/>
          <p:nvPr/>
        </p:nvSpPr>
        <p:spPr>
          <a:xfrm>
            <a:off x="1810512" y="2990087"/>
            <a:ext cx="2752344" cy="384048"/>
          </a:xfrm>
          <a:prstGeom prst="rect">
            <a:avLst/>
          </a:prstGeom>
          <a:noFill/>
        </p:spPr>
        <p:txBody>
          <a:bodyPr wrap="square" lIns="13716" rIns="13716" tIns="13716" bIns="13716" anchor="t">
            <a:spAutoFit/>
          </a:bodyPr>
          <a:lstStyle/>
          <a:p>
            <a:pPr>
              <a:spcAft>
                <a:spcPts val="0"/>
              </a:spcAft>
              <a:defRPr sz="1900" b="1">
                <a:solidFill>
                  <a:srgbClr val="20362E"/>
                </a:solidFill>
                <a:latin typeface="Aptos"/>
              </a:defRPr>
            </a:pPr>
            <a:r>
              <a:t>SDG impact</a:t>
            </a:r>
          </a:p>
        </p:txBody>
      </p:sp>
      <p:sp>
        <p:nvSpPr>
          <p:cNvPr id="19" name="TextBox 18"/>
          <p:cNvSpPr txBox="1"/>
          <p:nvPr/>
        </p:nvSpPr>
        <p:spPr>
          <a:xfrm>
            <a:off x="4690872" y="2990087"/>
            <a:ext cx="6428232" cy="576072"/>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SDG 8 goal: fairer access and a portable history; impact unmeasured.</a:t>
            </a:r>
          </a:p>
        </p:txBody>
      </p:sp>
      <p:sp>
        <p:nvSpPr>
          <p:cNvPr id="20" name="Rounded Rectangle 19"/>
          <p:cNvSpPr/>
          <p:nvPr/>
        </p:nvSpPr>
        <p:spPr>
          <a:xfrm>
            <a:off x="694944" y="3895344"/>
            <a:ext cx="10799064" cy="877824"/>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14400" y="4059935"/>
            <a:ext cx="612648" cy="521207"/>
          </a:xfrm>
          <a:prstGeom prst="roundRect">
            <a:avLst>
              <a:gd name="adj" fmla="val 6000"/>
            </a:avLst>
          </a:prstGeom>
          <a:solidFill>
            <a:srgbClr val="E4E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3271" y="4151376"/>
            <a:ext cx="374904" cy="283464"/>
          </a:xfrm>
          <a:prstGeom prst="rect">
            <a:avLst/>
          </a:prstGeom>
          <a:noFill/>
        </p:spPr>
        <p:txBody>
          <a:bodyPr wrap="square" lIns="13716" rIns="13716" tIns="13716" bIns="13716" anchor="t">
            <a:spAutoFit/>
          </a:bodyPr>
          <a:lstStyle/>
          <a:p>
            <a:pPr algn="ctr">
              <a:spcAft>
                <a:spcPts val="0"/>
              </a:spcAft>
              <a:defRPr sz="1800" b="1">
                <a:solidFill>
                  <a:srgbClr val="426A54"/>
                </a:solidFill>
                <a:latin typeface="Aptos"/>
              </a:defRPr>
            </a:pPr>
            <a:r>
              <a:t>3</a:t>
            </a:r>
          </a:p>
        </p:txBody>
      </p:sp>
      <p:sp>
        <p:nvSpPr>
          <p:cNvPr id="23" name="TextBox 22"/>
          <p:cNvSpPr txBox="1"/>
          <p:nvPr/>
        </p:nvSpPr>
        <p:spPr>
          <a:xfrm>
            <a:off x="1810512" y="4050791"/>
            <a:ext cx="2752344" cy="384048"/>
          </a:xfrm>
          <a:prstGeom prst="rect">
            <a:avLst/>
          </a:prstGeom>
          <a:noFill/>
        </p:spPr>
        <p:txBody>
          <a:bodyPr wrap="square" lIns="13716" rIns="13716" tIns="13716" bIns="13716" anchor="t">
            <a:spAutoFit/>
          </a:bodyPr>
          <a:lstStyle/>
          <a:p>
            <a:pPr>
              <a:spcAft>
                <a:spcPts val="0"/>
              </a:spcAft>
              <a:defRPr sz="1900" b="1">
                <a:solidFill>
                  <a:srgbClr val="20362E"/>
                </a:solidFill>
                <a:latin typeface="Aptos"/>
              </a:defRPr>
            </a:pPr>
            <a:r>
              <a:t>Validation</a:t>
            </a:r>
          </a:p>
        </p:txBody>
      </p:sp>
      <p:sp>
        <p:nvSpPr>
          <p:cNvPr id="24" name="TextBox 23"/>
          <p:cNvSpPr txBox="1"/>
          <p:nvPr/>
        </p:nvSpPr>
        <p:spPr>
          <a:xfrm>
            <a:off x="4690872" y="4050791"/>
            <a:ext cx="6428232" cy="576072"/>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Show passing tests; be honest that benchmark data is pending.</a:t>
            </a:r>
          </a:p>
        </p:txBody>
      </p:sp>
      <p:sp>
        <p:nvSpPr>
          <p:cNvPr id="25" name="Rounded Rectangle 24"/>
          <p:cNvSpPr/>
          <p:nvPr/>
        </p:nvSpPr>
        <p:spPr>
          <a:xfrm>
            <a:off x="694944" y="4956048"/>
            <a:ext cx="10799064" cy="877824"/>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14400" y="5120640"/>
            <a:ext cx="612648" cy="521207"/>
          </a:xfrm>
          <a:prstGeom prst="roundRect">
            <a:avLst>
              <a:gd name="adj" fmla="val 6000"/>
            </a:avLst>
          </a:prstGeom>
          <a:solidFill>
            <a:srgbClr val="E4E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33271" y="5212080"/>
            <a:ext cx="374904" cy="283464"/>
          </a:xfrm>
          <a:prstGeom prst="rect">
            <a:avLst/>
          </a:prstGeom>
          <a:noFill/>
        </p:spPr>
        <p:txBody>
          <a:bodyPr wrap="square" lIns="13716" rIns="13716" tIns="13716" bIns="13716" anchor="t">
            <a:spAutoFit/>
          </a:bodyPr>
          <a:lstStyle/>
          <a:p>
            <a:pPr algn="ctr">
              <a:spcAft>
                <a:spcPts val="0"/>
              </a:spcAft>
              <a:defRPr sz="1800" b="1">
                <a:solidFill>
                  <a:srgbClr val="426A54"/>
                </a:solidFill>
                <a:latin typeface="Aptos"/>
              </a:defRPr>
            </a:pPr>
            <a:r>
              <a:t>2</a:t>
            </a:r>
          </a:p>
        </p:txBody>
      </p:sp>
      <p:sp>
        <p:nvSpPr>
          <p:cNvPr id="28" name="TextBox 27"/>
          <p:cNvSpPr txBox="1"/>
          <p:nvPr/>
        </p:nvSpPr>
        <p:spPr>
          <a:xfrm>
            <a:off x="1810512" y="5111496"/>
            <a:ext cx="2752344" cy="384048"/>
          </a:xfrm>
          <a:prstGeom prst="rect">
            <a:avLst/>
          </a:prstGeom>
          <a:noFill/>
        </p:spPr>
        <p:txBody>
          <a:bodyPr wrap="square" lIns="13716" rIns="13716" tIns="13716" bIns="13716" anchor="t">
            <a:spAutoFit/>
          </a:bodyPr>
          <a:lstStyle/>
          <a:p>
            <a:pPr>
              <a:spcAft>
                <a:spcPts val="0"/>
              </a:spcAft>
              <a:defRPr sz="1900" b="1">
                <a:solidFill>
                  <a:srgbClr val="20362E"/>
                </a:solidFill>
                <a:latin typeface="Aptos"/>
              </a:defRPr>
            </a:pPr>
            <a:r>
              <a:t>TRL + demo</a:t>
            </a:r>
          </a:p>
        </p:txBody>
      </p:sp>
      <p:sp>
        <p:nvSpPr>
          <p:cNvPr id="29" name="TextBox 28"/>
          <p:cNvSpPr txBox="1"/>
          <p:nvPr/>
        </p:nvSpPr>
        <p:spPr>
          <a:xfrm>
            <a:off x="4690872" y="5111496"/>
            <a:ext cx="6428232" cy="576072"/>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Run the two-account prototype live; no field pilot yet.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4937760" cy="237744"/>
          </a:xfrm>
          <a:prstGeom prst="rect">
            <a:avLst/>
          </a:prstGeom>
          <a:noFill/>
        </p:spPr>
        <p:txBody>
          <a:bodyPr wrap="square" lIns="13716" rIns="13716" tIns="13716" bIns="13716" anchor="t">
            <a:spAutoFit/>
          </a:bodyPr>
          <a:lstStyle/>
          <a:p>
            <a:pPr>
              <a:spcAft>
                <a:spcPts val="0"/>
              </a:spcAft>
              <a:defRPr sz="1000" b="1">
                <a:solidFill>
                  <a:srgbClr val="426A54"/>
                </a:solidFill>
                <a:latin typeface="Aptos"/>
              </a:defRPr>
            </a:pPr>
            <a:r>
              <a:t>SKILLCRAFT  /  DBTHON 2026</a:t>
            </a:r>
          </a:p>
        </p:txBody>
      </p:sp>
      <p:sp>
        <p:nvSpPr>
          <p:cNvPr id="4" name="TextBox 3"/>
          <p:cNvSpPr txBox="1"/>
          <p:nvPr/>
        </p:nvSpPr>
        <p:spPr>
          <a:xfrm>
            <a:off x="9144000" y="256032"/>
            <a:ext cx="2496312" cy="237744"/>
          </a:xfrm>
          <a:prstGeom prst="rect">
            <a:avLst/>
          </a:prstGeom>
          <a:noFill/>
        </p:spPr>
        <p:txBody>
          <a:bodyPr wrap="square" lIns="13716" rIns="13716" tIns="13716" bIns="13716" anchor="t">
            <a:spAutoFit/>
          </a:bodyPr>
          <a:lstStyle/>
          <a:p>
            <a:pPr algn="r">
              <a:spcAft>
                <a:spcPts val="0"/>
              </a:spcAft>
              <a:defRPr sz="1000" b="1">
                <a:solidFill>
                  <a:srgbClr val="5B6F63"/>
                </a:solidFill>
                <a:latin typeface="Aptos"/>
              </a:defRPr>
            </a:pPr>
            <a:r>
              <a:t>PANEL RUNBOOK</a:t>
            </a:r>
          </a:p>
        </p:txBody>
      </p:sp>
      <p:sp>
        <p:nvSpPr>
          <p:cNvPr id="5" name="TextBox 4"/>
          <p:cNvSpPr txBox="1"/>
          <p:nvPr/>
        </p:nvSpPr>
        <p:spPr>
          <a:xfrm>
            <a:off x="502920" y="640080"/>
            <a:ext cx="11064240" cy="530352"/>
          </a:xfrm>
          <a:prstGeom prst="rect">
            <a:avLst/>
          </a:prstGeom>
          <a:noFill/>
        </p:spPr>
        <p:txBody>
          <a:bodyPr wrap="square" lIns="13716" rIns="13716" tIns="13716" bIns="13716" anchor="t">
            <a:spAutoFit/>
          </a:bodyPr>
          <a:lstStyle/>
          <a:p>
            <a:pPr>
              <a:spcAft>
                <a:spcPts val="0"/>
              </a:spcAft>
              <a:defRPr sz="3000" b="1">
                <a:solidFill>
                  <a:srgbClr val="20362E"/>
                </a:solidFill>
                <a:latin typeface="Aptos"/>
              </a:defRPr>
            </a:pPr>
            <a:r>
              <a:t>A five-step connected demonstration</a:t>
            </a:r>
          </a:p>
        </p:txBody>
      </p:sp>
      <p:sp>
        <p:nvSpPr>
          <p:cNvPr id="6" name="TextBox 5"/>
          <p:cNvSpPr txBox="1"/>
          <p:nvPr/>
        </p:nvSpPr>
        <p:spPr>
          <a:xfrm>
            <a:off x="521207" y="1234440"/>
            <a:ext cx="10972800" cy="411480"/>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Use the local API and database preview to show each change as it happens.</a:t>
            </a:r>
          </a:p>
        </p:txBody>
      </p:sp>
      <p:cxnSp>
        <p:nvCxnSpPr>
          <p:cNvPr id="7" name="Connector 6"/>
          <p:cNvCxnSpPr/>
          <p:nvPr/>
        </p:nvCxnSpPr>
        <p:spPr>
          <a:xfrm>
            <a:off x="502920" y="6501384"/>
            <a:ext cx="11183112" cy="0"/>
          </a:xfrm>
          <a:prstGeom prst="line">
            <a:avLst/>
          </a:prstGeom>
          <a:ln w="12700">
            <a:solidFill>
              <a:srgbClr val="CDD8CD"/>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12064" y="6556248"/>
            <a:ext cx="6400800" cy="182880"/>
          </a:xfrm>
          <a:prstGeom prst="rect">
            <a:avLst/>
          </a:prstGeom>
          <a:noFill/>
        </p:spPr>
        <p:txBody>
          <a:bodyPr wrap="square" lIns="13716" rIns="13716" tIns="13716" bIns="13716" anchor="t">
            <a:spAutoFit/>
          </a:bodyPr>
          <a:lstStyle/>
          <a:p>
            <a:pPr>
              <a:spcAft>
                <a:spcPts val="0"/>
              </a:spcAft>
              <a:defRPr sz="900" b="0">
                <a:solidFill>
                  <a:srgbClr val="5B6F63"/>
                </a:solidFill>
                <a:latin typeface="Aptos"/>
              </a:defRPr>
            </a:pPr>
            <a:r>
              <a:t>SkillCraft  •  database systems prototype</a:t>
            </a:r>
          </a:p>
        </p:txBody>
      </p:sp>
      <p:sp>
        <p:nvSpPr>
          <p:cNvPr id="9" name="TextBox 8"/>
          <p:cNvSpPr txBox="1"/>
          <p:nvPr/>
        </p:nvSpPr>
        <p:spPr>
          <a:xfrm>
            <a:off x="11082528" y="6547104"/>
            <a:ext cx="548640" cy="182880"/>
          </a:xfrm>
          <a:prstGeom prst="rect">
            <a:avLst/>
          </a:prstGeom>
          <a:noFill/>
        </p:spPr>
        <p:txBody>
          <a:bodyPr wrap="square" lIns="13716" rIns="13716" tIns="13716" bIns="13716" anchor="t">
            <a:spAutoFit/>
          </a:bodyPr>
          <a:lstStyle/>
          <a:p>
            <a:pPr algn="r">
              <a:spcAft>
                <a:spcPts val="0"/>
              </a:spcAft>
              <a:defRPr sz="900" b="0">
                <a:solidFill>
                  <a:srgbClr val="5B6F63"/>
                </a:solidFill>
                <a:latin typeface="Aptos"/>
              </a:defRPr>
            </a:pPr>
            <a:r>
              <a:t>14</a:t>
            </a:r>
          </a:p>
        </p:txBody>
      </p:sp>
      <p:sp>
        <p:nvSpPr>
          <p:cNvPr id="10" name="Rounded Rectangle 9"/>
          <p:cNvSpPr/>
          <p:nvPr/>
        </p:nvSpPr>
        <p:spPr>
          <a:xfrm>
            <a:off x="685800" y="1737360"/>
            <a:ext cx="10826496" cy="685800"/>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883664"/>
            <a:ext cx="320040" cy="329184"/>
          </a:xfrm>
          <a:prstGeom prst="rect">
            <a:avLst/>
          </a:prstGeom>
          <a:noFill/>
        </p:spPr>
        <p:txBody>
          <a:bodyPr wrap="square" lIns="13716" rIns="13716" tIns="13716" bIns="13716" anchor="t">
            <a:spAutoFit/>
          </a:bodyPr>
          <a:lstStyle/>
          <a:p>
            <a:pPr>
              <a:spcAft>
                <a:spcPts val="0"/>
              </a:spcAft>
              <a:defRPr sz="1900" b="1">
                <a:solidFill>
                  <a:srgbClr val="426A54"/>
                </a:solidFill>
                <a:latin typeface="Aptos"/>
              </a:defRPr>
            </a:pPr>
            <a:r>
              <a:t>1</a:t>
            </a:r>
          </a:p>
        </p:txBody>
      </p:sp>
      <p:sp>
        <p:nvSpPr>
          <p:cNvPr id="12" name="TextBox 11"/>
          <p:cNvSpPr txBox="1"/>
          <p:nvPr/>
        </p:nvSpPr>
        <p:spPr>
          <a:xfrm>
            <a:off x="1508760" y="1865376"/>
            <a:ext cx="3840480" cy="356616"/>
          </a:xfrm>
          <a:prstGeom prst="rect">
            <a:avLst/>
          </a:prstGeom>
          <a:noFill/>
        </p:spPr>
        <p:txBody>
          <a:bodyPr wrap="square" lIns="13716" rIns="13716" tIns="13716" bIns="13716" anchor="t">
            <a:spAutoFit/>
          </a:bodyPr>
          <a:lstStyle/>
          <a:p>
            <a:pPr>
              <a:spcAft>
                <a:spcPts val="0"/>
              </a:spcAft>
              <a:defRPr sz="1800" b="1">
                <a:solidFill>
                  <a:srgbClr val="20362E"/>
                </a:solidFill>
                <a:latin typeface="Aptos"/>
              </a:defRPr>
            </a:pPr>
            <a:r>
              <a:t>Ramesh posts</a:t>
            </a:r>
          </a:p>
        </p:txBody>
      </p:sp>
      <p:sp>
        <p:nvSpPr>
          <p:cNvPr id="13" name="TextBox 12"/>
          <p:cNvSpPr txBox="1"/>
          <p:nvPr/>
        </p:nvSpPr>
        <p:spPr>
          <a:xfrm>
            <a:off x="5486400" y="1883664"/>
            <a:ext cx="5458968" cy="374904"/>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ramesh@constructionco.in</a:t>
            </a:r>
          </a:p>
        </p:txBody>
      </p:sp>
      <p:sp>
        <p:nvSpPr>
          <p:cNvPr id="14" name="Rounded Rectangle 13"/>
          <p:cNvSpPr/>
          <p:nvPr/>
        </p:nvSpPr>
        <p:spPr>
          <a:xfrm>
            <a:off x="685800" y="2569464"/>
            <a:ext cx="10826496" cy="685800"/>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715768"/>
            <a:ext cx="320040" cy="329184"/>
          </a:xfrm>
          <a:prstGeom prst="rect">
            <a:avLst/>
          </a:prstGeom>
          <a:noFill/>
        </p:spPr>
        <p:txBody>
          <a:bodyPr wrap="square" lIns="13716" rIns="13716" tIns="13716" bIns="13716" anchor="t">
            <a:spAutoFit/>
          </a:bodyPr>
          <a:lstStyle/>
          <a:p>
            <a:pPr>
              <a:spcAft>
                <a:spcPts val="0"/>
              </a:spcAft>
              <a:defRPr sz="1900" b="1">
                <a:solidFill>
                  <a:srgbClr val="426A54"/>
                </a:solidFill>
                <a:latin typeface="Aptos"/>
              </a:defRPr>
            </a:pPr>
            <a:r>
              <a:t>2</a:t>
            </a:r>
          </a:p>
        </p:txBody>
      </p:sp>
      <p:sp>
        <p:nvSpPr>
          <p:cNvPr id="16" name="TextBox 15"/>
          <p:cNvSpPr txBox="1"/>
          <p:nvPr/>
        </p:nvSpPr>
        <p:spPr>
          <a:xfrm>
            <a:off x="1508760" y="2697480"/>
            <a:ext cx="3840480" cy="356616"/>
          </a:xfrm>
          <a:prstGeom prst="rect">
            <a:avLst/>
          </a:prstGeom>
          <a:noFill/>
        </p:spPr>
        <p:txBody>
          <a:bodyPr wrap="square" lIns="13716" rIns="13716" tIns="13716" bIns="13716" anchor="t">
            <a:spAutoFit/>
          </a:bodyPr>
          <a:lstStyle/>
          <a:p>
            <a:pPr>
              <a:spcAft>
                <a:spcPts val="0"/>
              </a:spcAft>
              <a:defRPr sz="1800" b="1">
                <a:solidFill>
                  <a:srgbClr val="20362E"/>
                </a:solidFill>
                <a:latin typeface="Aptos"/>
              </a:defRPr>
            </a:pPr>
            <a:r>
              <a:t>Lakshmi searches + bids</a:t>
            </a:r>
          </a:p>
        </p:txBody>
      </p:sp>
      <p:sp>
        <p:nvSpPr>
          <p:cNvPr id="17" name="TextBox 16"/>
          <p:cNvSpPr txBox="1"/>
          <p:nvPr/>
        </p:nvSpPr>
        <p:spPr>
          <a:xfrm>
            <a:off x="5486400" y="2715768"/>
            <a:ext cx="5458968" cy="374904"/>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lakshmi@skillcraft.local</a:t>
            </a:r>
          </a:p>
        </p:txBody>
      </p:sp>
      <p:sp>
        <p:nvSpPr>
          <p:cNvPr id="18" name="Rounded Rectangle 17"/>
          <p:cNvSpPr/>
          <p:nvPr/>
        </p:nvSpPr>
        <p:spPr>
          <a:xfrm>
            <a:off x="685800" y="3401568"/>
            <a:ext cx="10826496" cy="685800"/>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3547872"/>
            <a:ext cx="320040" cy="329184"/>
          </a:xfrm>
          <a:prstGeom prst="rect">
            <a:avLst/>
          </a:prstGeom>
          <a:noFill/>
        </p:spPr>
        <p:txBody>
          <a:bodyPr wrap="square" lIns="13716" rIns="13716" tIns="13716" bIns="13716" anchor="t">
            <a:spAutoFit/>
          </a:bodyPr>
          <a:lstStyle/>
          <a:p>
            <a:pPr>
              <a:spcAft>
                <a:spcPts val="0"/>
              </a:spcAft>
              <a:defRPr sz="1900" b="1">
                <a:solidFill>
                  <a:srgbClr val="426A54"/>
                </a:solidFill>
                <a:latin typeface="Aptos"/>
              </a:defRPr>
            </a:pPr>
            <a:r>
              <a:t>3</a:t>
            </a:r>
          </a:p>
        </p:txBody>
      </p:sp>
      <p:sp>
        <p:nvSpPr>
          <p:cNvPr id="20" name="TextBox 19"/>
          <p:cNvSpPr txBox="1"/>
          <p:nvPr/>
        </p:nvSpPr>
        <p:spPr>
          <a:xfrm>
            <a:off x="1508760" y="3529584"/>
            <a:ext cx="3840480" cy="356616"/>
          </a:xfrm>
          <a:prstGeom prst="rect">
            <a:avLst/>
          </a:prstGeom>
          <a:noFill/>
        </p:spPr>
        <p:txBody>
          <a:bodyPr wrap="square" lIns="13716" rIns="13716" tIns="13716" bIns="13716" anchor="t">
            <a:spAutoFit/>
          </a:bodyPr>
          <a:lstStyle/>
          <a:p>
            <a:pPr>
              <a:spcAft>
                <a:spcPts val="0"/>
              </a:spcAft>
              <a:defRPr sz="1800" b="1">
                <a:solidFill>
                  <a:srgbClr val="20362E"/>
                </a:solidFill>
                <a:latin typeface="Aptos"/>
              </a:defRPr>
            </a:pPr>
            <a:r>
              <a:t>Ramesh accepts</a:t>
            </a:r>
          </a:p>
        </p:txBody>
      </p:sp>
      <p:sp>
        <p:nvSpPr>
          <p:cNvPr id="21" name="TextBox 20"/>
          <p:cNvSpPr txBox="1"/>
          <p:nvPr/>
        </p:nvSpPr>
        <p:spPr>
          <a:xfrm>
            <a:off x="5486400" y="3547872"/>
            <a:ext cx="5458968" cy="374904"/>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One job closes; one contract appears</a:t>
            </a:r>
          </a:p>
        </p:txBody>
      </p:sp>
      <p:sp>
        <p:nvSpPr>
          <p:cNvPr id="22" name="Rounded Rectangle 21"/>
          <p:cNvSpPr/>
          <p:nvPr/>
        </p:nvSpPr>
        <p:spPr>
          <a:xfrm>
            <a:off x="685800" y="4233672"/>
            <a:ext cx="10826496" cy="685800"/>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1832" y="4379976"/>
            <a:ext cx="320040" cy="329184"/>
          </a:xfrm>
          <a:prstGeom prst="rect">
            <a:avLst/>
          </a:prstGeom>
          <a:noFill/>
        </p:spPr>
        <p:txBody>
          <a:bodyPr wrap="square" lIns="13716" rIns="13716" tIns="13716" bIns="13716" anchor="t">
            <a:spAutoFit/>
          </a:bodyPr>
          <a:lstStyle/>
          <a:p>
            <a:pPr>
              <a:spcAft>
                <a:spcPts val="0"/>
              </a:spcAft>
              <a:defRPr sz="1900" b="1">
                <a:solidFill>
                  <a:srgbClr val="426A54"/>
                </a:solidFill>
                <a:latin typeface="Aptos"/>
              </a:defRPr>
            </a:pPr>
            <a:r>
              <a:t>4</a:t>
            </a:r>
          </a:p>
        </p:txBody>
      </p:sp>
      <p:sp>
        <p:nvSpPr>
          <p:cNvPr id="24" name="TextBox 23"/>
          <p:cNvSpPr txBox="1"/>
          <p:nvPr/>
        </p:nvSpPr>
        <p:spPr>
          <a:xfrm>
            <a:off x="1508760" y="4361688"/>
            <a:ext cx="3840480" cy="356616"/>
          </a:xfrm>
          <a:prstGeom prst="rect">
            <a:avLst/>
          </a:prstGeom>
          <a:noFill/>
        </p:spPr>
        <p:txBody>
          <a:bodyPr wrap="square" lIns="13716" rIns="13716" tIns="13716" bIns="13716" anchor="t">
            <a:spAutoFit/>
          </a:bodyPr>
          <a:lstStyle/>
          <a:p>
            <a:pPr>
              <a:spcAft>
                <a:spcPts val="0"/>
              </a:spcAft>
              <a:defRPr sz="1800" b="1">
                <a:solidFill>
                  <a:srgbClr val="20362E"/>
                </a:solidFill>
                <a:latin typeface="Aptos"/>
              </a:defRPr>
            </a:pPr>
            <a:r>
              <a:t>Both acknowledge</a:t>
            </a:r>
          </a:p>
        </p:txBody>
      </p:sp>
      <p:sp>
        <p:nvSpPr>
          <p:cNvPr id="25" name="TextBox 24"/>
          <p:cNvSpPr txBox="1"/>
          <p:nvPr/>
        </p:nvSpPr>
        <p:spPr>
          <a:xfrm>
            <a:off x="5486400" y="4379976"/>
            <a:ext cx="5458968" cy="374904"/>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Sent → received → paid</a:t>
            </a:r>
          </a:p>
        </p:txBody>
      </p:sp>
      <p:sp>
        <p:nvSpPr>
          <p:cNvPr id="26" name="Rounded Rectangle 25"/>
          <p:cNvSpPr/>
          <p:nvPr/>
        </p:nvSpPr>
        <p:spPr>
          <a:xfrm>
            <a:off x="685800" y="5065776"/>
            <a:ext cx="10826496" cy="685800"/>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5212080"/>
            <a:ext cx="320040" cy="329184"/>
          </a:xfrm>
          <a:prstGeom prst="rect">
            <a:avLst/>
          </a:prstGeom>
          <a:noFill/>
        </p:spPr>
        <p:txBody>
          <a:bodyPr wrap="square" lIns="13716" rIns="13716" tIns="13716" bIns="13716" anchor="t">
            <a:spAutoFit/>
          </a:bodyPr>
          <a:lstStyle/>
          <a:p>
            <a:pPr>
              <a:spcAft>
                <a:spcPts val="0"/>
              </a:spcAft>
              <a:defRPr sz="1900" b="1">
                <a:solidFill>
                  <a:srgbClr val="426A54"/>
                </a:solidFill>
                <a:latin typeface="Aptos"/>
              </a:defRPr>
            </a:pPr>
            <a:r>
              <a:t>5</a:t>
            </a:r>
          </a:p>
        </p:txBody>
      </p:sp>
      <p:sp>
        <p:nvSpPr>
          <p:cNvPr id="28" name="TextBox 27"/>
          <p:cNvSpPr txBox="1"/>
          <p:nvPr/>
        </p:nvSpPr>
        <p:spPr>
          <a:xfrm>
            <a:off x="1508760" y="5193792"/>
            <a:ext cx="3840480" cy="356616"/>
          </a:xfrm>
          <a:prstGeom prst="rect">
            <a:avLst/>
          </a:prstGeom>
          <a:noFill/>
        </p:spPr>
        <p:txBody>
          <a:bodyPr wrap="square" lIns="13716" rIns="13716" tIns="13716" bIns="13716" anchor="t">
            <a:spAutoFit/>
          </a:bodyPr>
          <a:lstStyle/>
          <a:p>
            <a:pPr>
              <a:spcAft>
                <a:spcPts val="0"/>
              </a:spcAft>
              <a:defRPr sz="1800" b="1">
                <a:solidFill>
                  <a:srgbClr val="20362E"/>
                </a:solidFill>
                <a:latin typeface="Aptos"/>
              </a:defRPr>
            </a:pPr>
            <a:r>
              <a:t>Ramesh reviews</a:t>
            </a:r>
          </a:p>
        </p:txBody>
      </p:sp>
      <p:sp>
        <p:nvSpPr>
          <p:cNvPr id="29" name="TextBox 28"/>
          <p:cNvSpPr txBox="1"/>
          <p:nvPr/>
        </p:nvSpPr>
        <p:spPr>
          <a:xfrm>
            <a:off x="5486400" y="5212080"/>
            <a:ext cx="5458968" cy="374904"/>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Show event history and trust score</a:t>
            </a:r>
          </a:p>
        </p:txBody>
      </p:sp>
      <p:sp>
        <p:nvSpPr>
          <p:cNvPr id="30" name="Rounded Rectangle 29"/>
          <p:cNvSpPr/>
          <p:nvPr/>
        </p:nvSpPr>
        <p:spPr>
          <a:xfrm>
            <a:off x="694944" y="6053328"/>
            <a:ext cx="2871216" cy="310896"/>
          </a:xfrm>
          <a:prstGeom prst="roundRect">
            <a:avLst>
              <a:gd name="adj" fmla="val 6000"/>
            </a:avLst>
          </a:prstGeom>
          <a:solidFill>
            <a:srgbClr val="E4E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8096" y="6094476"/>
            <a:ext cx="2724912" cy="228600"/>
          </a:xfrm>
          <a:prstGeom prst="rect">
            <a:avLst/>
          </a:prstGeom>
          <a:noFill/>
        </p:spPr>
        <p:txBody>
          <a:bodyPr wrap="square" lIns="13716" rIns="13716" tIns="13716" bIns="13716" anchor="t">
            <a:spAutoFit/>
          </a:bodyPr>
          <a:lstStyle/>
          <a:p>
            <a:pPr>
              <a:spcAft>
                <a:spcPts val="0"/>
              </a:spcAft>
              <a:defRPr sz="1100" b="1">
                <a:solidFill>
                  <a:srgbClr val="426A54"/>
                </a:solidFill>
                <a:latin typeface="Aptos"/>
              </a:defRPr>
            </a:pPr>
            <a:r>
              <a:t>BOTH PASSWORDS: password123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4937760" cy="237744"/>
          </a:xfrm>
          <a:prstGeom prst="rect">
            <a:avLst/>
          </a:prstGeom>
          <a:noFill/>
        </p:spPr>
        <p:txBody>
          <a:bodyPr wrap="square" lIns="13716" rIns="13716" tIns="13716" bIns="13716" anchor="t">
            <a:spAutoFit/>
          </a:bodyPr>
          <a:lstStyle/>
          <a:p>
            <a:pPr>
              <a:spcAft>
                <a:spcPts val="0"/>
              </a:spcAft>
              <a:defRPr sz="1000" b="1">
                <a:solidFill>
                  <a:srgbClr val="426A54"/>
                </a:solidFill>
                <a:latin typeface="Aptos"/>
              </a:defRPr>
            </a:pPr>
            <a:r>
              <a:t>SKILLCRAFT  /  DBTHON 2026</a:t>
            </a:r>
          </a:p>
        </p:txBody>
      </p:sp>
      <p:sp>
        <p:nvSpPr>
          <p:cNvPr id="4" name="TextBox 3"/>
          <p:cNvSpPr txBox="1"/>
          <p:nvPr/>
        </p:nvSpPr>
        <p:spPr>
          <a:xfrm>
            <a:off x="9144000" y="256032"/>
            <a:ext cx="2496312" cy="237744"/>
          </a:xfrm>
          <a:prstGeom prst="rect">
            <a:avLst/>
          </a:prstGeom>
          <a:noFill/>
        </p:spPr>
        <p:txBody>
          <a:bodyPr wrap="square" lIns="13716" rIns="13716" tIns="13716" bIns="13716" anchor="t">
            <a:spAutoFit/>
          </a:bodyPr>
          <a:lstStyle/>
          <a:p>
            <a:pPr algn="r">
              <a:spcAft>
                <a:spcPts val="0"/>
              </a:spcAft>
              <a:defRPr sz="1000" b="1">
                <a:solidFill>
                  <a:srgbClr val="5B6F63"/>
                </a:solidFill>
                <a:latin typeface="Aptos"/>
              </a:defRPr>
            </a:pPr>
            <a:r>
              <a:t>PANEL QUESTIONS</a:t>
            </a:r>
          </a:p>
        </p:txBody>
      </p:sp>
      <p:sp>
        <p:nvSpPr>
          <p:cNvPr id="5" name="TextBox 4"/>
          <p:cNvSpPr txBox="1"/>
          <p:nvPr/>
        </p:nvSpPr>
        <p:spPr>
          <a:xfrm>
            <a:off x="502920" y="640080"/>
            <a:ext cx="11064240" cy="530352"/>
          </a:xfrm>
          <a:prstGeom prst="rect">
            <a:avLst/>
          </a:prstGeom>
          <a:noFill/>
        </p:spPr>
        <p:txBody>
          <a:bodyPr wrap="square" lIns="13716" rIns="13716" tIns="13716" bIns="13716" anchor="t">
            <a:spAutoFit/>
          </a:bodyPr>
          <a:lstStyle/>
          <a:p>
            <a:pPr>
              <a:spcAft>
                <a:spcPts val="0"/>
              </a:spcAft>
              <a:defRPr sz="3000" b="1">
                <a:solidFill>
                  <a:srgbClr val="20362E"/>
                </a:solidFill>
                <a:latin typeface="Aptos"/>
              </a:defRPr>
            </a:pPr>
            <a:r>
              <a:t>Three questions the panel may ask</a:t>
            </a:r>
          </a:p>
        </p:txBody>
      </p:sp>
      <p:sp>
        <p:nvSpPr>
          <p:cNvPr id="6" name="TextBox 5"/>
          <p:cNvSpPr txBox="1"/>
          <p:nvPr/>
        </p:nvSpPr>
        <p:spPr>
          <a:xfrm>
            <a:off x="521207" y="1234440"/>
            <a:ext cx="10972800" cy="411480"/>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Answer with the implemented rule, then state the remaining evidence gap.</a:t>
            </a:r>
          </a:p>
        </p:txBody>
      </p:sp>
      <p:cxnSp>
        <p:nvCxnSpPr>
          <p:cNvPr id="7" name="Connector 6"/>
          <p:cNvCxnSpPr/>
          <p:nvPr/>
        </p:nvCxnSpPr>
        <p:spPr>
          <a:xfrm>
            <a:off x="502920" y="6501384"/>
            <a:ext cx="11183112" cy="0"/>
          </a:xfrm>
          <a:prstGeom prst="line">
            <a:avLst/>
          </a:prstGeom>
          <a:ln w="12700">
            <a:solidFill>
              <a:srgbClr val="CDD8CD"/>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12064" y="6556248"/>
            <a:ext cx="6400800" cy="182880"/>
          </a:xfrm>
          <a:prstGeom prst="rect">
            <a:avLst/>
          </a:prstGeom>
          <a:noFill/>
        </p:spPr>
        <p:txBody>
          <a:bodyPr wrap="square" lIns="13716" rIns="13716" tIns="13716" bIns="13716" anchor="t">
            <a:spAutoFit/>
          </a:bodyPr>
          <a:lstStyle/>
          <a:p>
            <a:pPr>
              <a:spcAft>
                <a:spcPts val="0"/>
              </a:spcAft>
              <a:defRPr sz="900" b="0">
                <a:solidFill>
                  <a:srgbClr val="5B6F63"/>
                </a:solidFill>
                <a:latin typeface="Aptos"/>
              </a:defRPr>
            </a:pPr>
            <a:r>
              <a:t>SkillCraft  •  database systems prototype</a:t>
            </a:r>
          </a:p>
        </p:txBody>
      </p:sp>
      <p:sp>
        <p:nvSpPr>
          <p:cNvPr id="9" name="TextBox 8"/>
          <p:cNvSpPr txBox="1"/>
          <p:nvPr/>
        </p:nvSpPr>
        <p:spPr>
          <a:xfrm>
            <a:off x="11082528" y="6547104"/>
            <a:ext cx="548640" cy="182880"/>
          </a:xfrm>
          <a:prstGeom prst="rect">
            <a:avLst/>
          </a:prstGeom>
          <a:noFill/>
        </p:spPr>
        <p:txBody>
          <a:bodyPr wrap="square" lIns="13716" rIns="13716" tIns="13716" bIns="13716" anchor="t">
            <a:spAutoFit/>
          </a:bodyPr>
          <a:lstStyle/>
          <a:p>
            <a:pPr algn="r">
              <a:spcAft>
                <a:spcPts val="0"/>
              </a:spcAft>
              <a:defRPr sz="900" b="0">
                <a:solidFill>
                  <a:srgbClr val="5B6F63"/>
                </a:solidFill>
                <a:latin typeface="Aptos"/>
              </a:defRPr>
            </a:pPr>
            <a:r>
              <a:t>15</a:t>
            </a:r>
          </a:p>
        </p:txBody>
      </p:sp>
      <p:sp>
        <p:nvSpPr>
          <p:cNvPr id="10" name="Rounded Rectangle 9"/>
          <p:cNvSpPr/>
          <p:nvPr/>
        </p:nvSpPr>
        <p:spPr>
          <a:xfrm>
            <a:off x="658368" y="1865376"/>
            <a:ext cx="3438144" cy="3246120"/>
          </a:xfrm>
          <a:prstGeom prst="roundRect">
            <a:avLst>
              <a:gd name="adj" fmla="val 6000"/>
            </a:avLst>
          </a:prstGeom>
          <a:solidFill>
            <a:srgbClr val="FFFFFF"/>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865376"/>
            <a:ext cx="64008" cy="3246120"/>
          </a:xfrm>
          <a:prstGeom prst="rect">
            <a:avLst/>
          </a:prstGeom>
          <a:solidFill>
            <a:srgbClr val="42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039112"/>
            <a:ext cx="2980944" cy="365760"/>
          </a:xfrm>
          <a:prstGeom prst="rect">
            <a:avLst/>
          </a:prstGeom>
          <a:noFill/>
        </p:spPr>
        <p:txBody>
          <a:bodyPr wrap="square" lIns="13716" rIns="13716" tIns="13716" bIns="13716" anchor="t">
            <a:spAutoFit/>
          </a:bodyPr>
          <a:lstStyle/>
          <a:p>
            <a:pPr>
              <a:spcAft>
                <a:spcPts val="0"/>
              </a:spcAft>
              <a:defRPr sz="1900" b="1">
                <a:solidFill>
                  <a:srgbClr val="20362E"/>
                </a:solidFill>
                <a:latin typeface="Aptos"/>
              </a:defRPr>
            </a:pPr>
            <a:r>
              <a:t>TWO WINNERS?</a:t>
            </a:r>
          </a:p>
        </p:txBody>
      </p:sp>
      <p:sp>
        <p:nvSpPr>
          <p:cNvPr id="13" name="TextBox 12"/>
          <p:cNvSpPr txBox="1"/>
          <p:nvPr/>
        </p:nvSpPr>
        <p:spPr>
          <a:xfrm>
            <a:off x="896112" y="2505456"/>
            <a:ext cx="2962656" cy="2514600"/>
          </a:xfrm>
          <a:prstGeom prst="rect">
            <a:avLst/>
          </a:prstGeom>
          <a:noFill/>
        </p:spPr>
        <p:txBody>
          <a:bodyPr wrap="square" lIns="13716" rIns="13716" tIns="13716" bIns="13716" anchor="t">
            <a:spAutoFit/>
          </a:bodyPr>
          <a:lstStyle/>
          <a:p>
            <a:pPr>
              <a:spcAft>
                <a:spcPts val="0"/>
              </a:spcAft>
              <a:defRPr sz="1600" b="0">
                <a:solidFill>
                  <a:srgbClr val="5B6F63"/>
                </a:solidFill>
                <a:latin typeface="Aptos"/>
              </a:defRPr>
            </a:pPr>
            <a:r>
              <a:t>A transaction, row lock, trigger and unique contract rule allow one winner per job. Native server concurrency still needs a run.</a:t>
            </a:r>
          </a:p>
        </p:txBody>
      </p:sp>
      <p:sp>
        <p:nvSpPr>
          <p:cNvPr id="14" name="Rounded Rectangle 13"/>
          <p:cNvSpPr/>
          <p:nvPr/>
        </p:nvSpPr>
        <p:spPr>
          <a:xfrm>
            <a:off x="4370832" y="1865376"/>
            <a:ext cx="3438144" cy="3246120"/>
          </a:xfrm>
          <a:prstGeom prst="roundRect">
            <a:avLst>
              <a:gd name="adj" fmla="val 6000"/>
            </a:avLst>
          </a:prstGeom>
          <a:solidFill>
            <a:srgbClr val="EEE7DE"/>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70832" y="1865376"/>
            <a:ext cx="64008" cy="3246120"/>
          </a:xfrm>
          <a:prstGeom prst="rect">
            <a:avLst/>
          </a:prstGeom>
          <a:solidFill>
            <a:srgbClr val="A86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576" y="2039112"/>
            <a:ext cx="2980944" cy="365760"/>
          </a:xfrm>
          <a:prstGeom prst="rect">
            <a:avLst/>
          </a:prstGeom>
          <a:noFill/>
        </p:spPr>
        <p:txBody>
          <a:bodyPr wrap="square" lIns="13716" rIns="13716" tIns="13716" bIns="13716" anchor="t">
            <a:spAutoFit/>
          </a:bodyPr>
          <a:lstStyle/>
          <a:p>
            <a:pPr>
              <a:spcAft>
                <a:spcPts val="0"/>
              </a:spcAft>
              <a:defRPr sz="1900" b="1">
                <a:solidFill>
                  <a:srgbClr val="20362E"/>
                </a:solidFill>
                <a:latin typeface="Aptos"/>
              </a:defRPr>
            </a:pPr>
            <a:r>
              <a:t>PAYMENT VERIFIED?</a:t>
            </a:r>
          </a:p>
        </p:txBody>
      </p:sp>
      <p:sp>
        <p:nvSpPr>
          <p:cNvPr id="17" name="TextBox 16"/>
          <p:cNvSpPr txBox="1"/>
          <p:nvPr/>
        </p:nvSpPr>
        <p:spPr>
          <a:xfrm>
            <a:off x="4608576" y="2505456"/>
            <a:ext cx="2962656" cy="2514600"/>
          </a:xfrm>
          <a:prstGeom prst="rect">
            <a:avLst/>
          </a:prstGeom>
          <a:noFill/>
        </p:spPr>
        <p:txBody>
          <a:bodyPr wrap="square" lIns="13716" rIns="13716" tIns="13716" bIns="13716" anchor="t">
            <a:spAutoFit/>
          </a:bodyPr>
          <a:lstStyle/>
          <a:p>
            <a:pPr>
              <a:spcAft>
                <a:spcPts val="0"/>
              </a:spcAft>
              <a:defRPr sz="1600" b="0">
                <a:solidFill>
                  <a:srgbClr val="5B6F63"/>
                </a:solidFill>
                <a:latin typeface="Aptos"/>
              </a:defRPr>
            </a:pPr>
            <a:r>
              <a:t>No. Paid records two user acknowledgments. There is no bank integration, escrow or independent confirmation.</a:t>
            </a:r>
          </a:p>
        </p:txBody>
      </p:sp>
      <p:sp>
        <p:nvSpPr>
          <p:cNvPr id="18" name="Rounded Rectangle 17"/>
          <p:cNvSpPr/>
          <p:nvPr/>
        </p:nvSpPr>
        <p:spPr>
          <a:xfrm>
            <a:off x="8083296" y="1865376"/>
            <a:ext cx="3438144" cy="3246120"/>
          </a:xfrm>
          <a:prstGeom prst="roundRect">
            <a:avLst>
              <a:gd name="adj" fmla="val 6000"/>
            </a:avLst>
          </a:prstGeom>
          <a:solidFill>
            <a:srgbClr val="E4ECE4"/>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1865376"/>
            <a:ext cx="64008" cy="3246120"/>
          </a:xfrm>
          <a:prstGeom prst="rect">
            <a:avLst/>
          </a:prstGeom>
          <a:solidFill>
            <a:srgbClr val="42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2039112"/>
            <a:ext cx="2980944" cy="365760"/>
          </a:xfrm>
          <a:prstGeom prst="rect">
            <a:avLst/>
          </a:prstGeom>
          <a:noFill/>
        </p:spPr>
        <p:txBody>
          <a:bodyPr wrap="square" lIns="13716" rIns="13716" tIns="13716" bIns="13716" anchor="t">
            <a:spAutoFit/>
          </a:bodyPr>
          <a:lstStyle/>
          <a:p>
            <a:pPr>
              <a:spcAft>
                <a:spcPts val="0"/>
              </a:spcAft>
              <a:defRPr sz="1900" b="1">
                <a:solidFill>
                  <a:srgbClr val="20362E"/>
                </a:solidFill>
                <a:latin typeface="Aptos"/>
              </a:defRPr>
            </a:pPr>
            <a:r>
              <a:t>FASTER OR FAIRER?</a:t>
            </a:r>
          </a:p>
        </p:txBody>
      </p:sp>
      <p:sp>
        <p:nvSpPr>
          <p:cNvPr id="21" name="TextBox 20"/>
          <p:cNvSpPr txBox="1"/>
          <p:nvPr/>
        </p:nvSpPr>
        <p:spPr>
          <a:xfrm>
            <a:off x="8321040" y="2505456"/>
            <a:ext cx="2962656" cy="2514600"/>
          </a:xfrm>
          <a:prstGeom prst="rect">
            <a:avLst/>
          </a:prstGeom>
          <a:noFill/>
        </p:spPr>
        <p:txBody>
          <a:bodyPr wrap="square" lIns="13716" rIns="13716" tIns="13716" bIns="13716" anchor="t">
            <a:spAutoFit/>
          </a:bodyPr>
          <a:lstStyle/>
          <a:p>
            <a:pPr>
              <a:spcAft>
                <a:spcPts val="0"/>
              </a:spcAft>
              <a:defRPr sz="1600" b="0">
                <a:solidFill>
                  <a:srgbClr val="5B6F63"/>
                </a:solidFill>
                <a:latin typeface="Aptos"/>
              </a:defRPr>
            </a:pPr>
            <a:r>
              <a:t>Not yet measured. Define a baseline, repeat query tests on PostgreSQL, and assess fit against labeled examples.</a:t>
            </a:r>
          </a:p>
        </p:txBody>
      </p:sp>
      <p:sp>
        <p:nvSpPr>
          <p:cNvPr id="22" name="TextBox 21"/>
          <p:cNvSpPr txBox="1"/>
          <p:nvPr/>
        </p:nvSpPr>
        <p:spPr>
          <a:xfrm>
            <a:off x="969264" y="5532120"/>
            <a:ext cx="10241280" cy="402336"/>
          </a:xfrm>
          <a:prstGeom prst="rect">
            <a:avLst/>
          </a:prstGeom>
          <a:noFill/>
        </p:spPr>
        <p:txBody>
          <a:bodyPr wrap="square" lIns="13716" rIns="13716" tIns="13716" bIns="13716" anchor="t">
            <a:spAutoFit/>
          </a:bodyPr>
          <a:lstStyle/>
          <a:p>
            <a:pPr algn="ctr">
              <a:spcAft>
                <a:spcPts val="0"/>
              </a:spcAft>
              <a:defRPr sz="1700" b="0">
                <a:solidFill>
                  <a:srgbClr val="5B6F63"/>
                </a:solidFill>
                <a:latin typeface="Aptos"/>
              </a:defRPr>
            </a:pPr>
            <a:r>
              <a:t>A precise answer is stronger than a performance or impact number we cannot support.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4937760" cy="237744"/>
          </a:xfrm>
          <a:prstGeom prst="rect">
            <a:avLst/>
          </a:prstGeom>
          <a:noFill/>
        </p:spPr>
        <p:txBody>
          <a:bodyPr wrap="square" lIns="13716" rIns="13716" tIns="13716" bIns="13716" anchor="t">
            <a:spAutoFit/>
          </a:bodyPr>
          <a:lstStyle/>
          <a:p>
            <a:pPr>
              <a:spcAft>
                <a:spcPts val="0"/>
              </a:spcAft>
              <a:defRPr sz="1000" b="1">
                <a:solidFill>
                  <a:srgbClr val="426A54"/>
                </a:solidFill>
                <a:latin typeface="Aptos"/>
              </a:defRPr>
            </a:pPr>
            <a:r>
              <a:t>SKILLCRAFT  /  DBTHON 2026</a:t>
            </a:r>
          </a:p>
        </p:txBody>
      </p:sp>
      <p:sp>
        <p:nvSpPr>
          <p:cNvPr id="4" name="TextBox 3"/>
          <p:cNvSpPr txBox="1"/>
          <p:nvPr/>
        </p:nvSpPr>
        <p:spPr>
          <a:xfrm>
            <a:off x="9144000" y="256032"/>
            <a:ext cx="2496312" cy="237744"/>
          </a:xfrm>
          <a:prstGeom prst="rect">
            <a:avLst/>
          </a:prstGeom>
          <a:noFill/>
        </p:spPr>
        <p:txBody>
          <a:bodyPr wrap="square" lIns="13716" rIns="13716" tIns="13716" bIns="13716" anchor="t">
            <a:spAutoFit/>
          </a:bodyPr>
          <a:lstStyle/>
          <a:p>
            <a:pPr algn="r">
              <a:spcAft>
                <a:spcPts val="0"/>
              </a:spcAft>
              <a:defRPr sz="1000" b="1">
                <a:solidFill>
                  <a:srgbClr val="5B6F63"/>
                </a:solidFill>
                <a:latin typeface="Aptos"/>
              </a:defRPr>
            </a:pPr>
            <a:r>
              <a:t>CONCLUSION</a:t>
            </a:r>
          </a:p>
        </p:txBody>
      </p:sp>
      <p:sp>
        <p:nvSpPr>
          <p:cNvPr id="5" name="TextBox 4"/>
          <p:cNvSpPr txBox="1"/>
          <p:nvPr/>
        </p:nvSpPr>
        <p:spPr>
          <a:xfrm>
            <a:off x="502920" y="640080"/>
            <a:ext cx="11064240" cy="530352"/>
          </a:xfrm>
          <a:prstGeom prst="rect">
            <a:avLst/>
          </a:prstGeom>
          <a:noFill/>
        </p:spPr>
        <p:txBody>
          <a:bodyPr wrap="square" lIns="13716" rIns="13716" tIns="13716" bIns="13716" anchor="t">
            <a:spAutoFit/>
          </a:bodyPr>
          <a:lstStyle/>
          <a:p>
            <a:pPr>
              <a:spcAft>
                <a:spcPts val="0"/>
              </a:spcAft>
              <a:defRPr sz="3000" b="1">
                <a:solidFill>
                  <a:srgbClr val="20362E"/>
                </a:solidFill>
                <a:latin typeface="Aptos"/>
              </a:defRPr>
            </a:pPr>
            <a:r>
              <a:t>A working prototype with clear next measurements</a:t>
            </a:r>
          </a:p>
        </p:txBody>
      </p:sp>
      <p:sp>
        <p:nvSpPr>
          <p:cNvPr id="6" name="TextBox 5"/>
          <p:cNvSpPr txBox="1"/>
          <p:nvPr/>
        </p:nvSpPr>
        <p:spPr>
          <a:xfrm>
            <a:off x="521207" y="1234440"/>
            <a:ext cx="10972800" cy="411480"/>
          </a:xfrm>
          <a:prstGeom prst="rect">
            <a:avLst/>
          </a:prstGeom>
          <a:noFill/>
        </p:spPr>
        <p:txBody>
          <a:bodyPr wrap="square" lIns="13716" rIns="13716" tIns="13716" bIns="13716" anchor="t">
            <a:spAutoFit/>
          </a:bodyPr>
          <a:lstStyle/>
          <a:p>
            <a:pPr>
              <a:spcAft>
                <a:spcPts val="0"/>
              </a:spcAft>
              <a:defRPr sz="1500" b="0">
                <a:solidFill>
                  <a:srgbClr val="5B6F63"/>
                </a:solidFill>
                <a:latin typeface="Aptos"/>
              </a:defRPr>
            </a:pPr>
            <a:r>
              <a:t>The database is the product's backbone; our claims stop where the evidence stops.</a:t>
            </a:r>
          </a:p>
        </p:txBody>
      </p:sp>
      <p:cxnSp>
        <p:nvCxnSpPr>
          <p:cNvPr id="7" name="Connector 6"/>
          <p:cNvCxnSpPr/>
          <p:nvPr/>
        </p:nvCxnSpPr>
        <p:spPr>
          <a:xfrm>
            <a:off x="502920" y="6501384"/>
            <a:ext cx="11183112" cy="0"/>
          </a:xfrm>
          <a:prstGeom prst="line">
            <a:avLst/>
          </a:prstGeom>
          <a:ln w="12700">
            <a:solidFill>
              <a:srgbClr val="CDD8CD"/>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12064" y="6556248"/>
            <a:ext cx="6400800" cy="182880"/>
          </a:xfrm>
          <a:prstGeom prst="rect">
            <a:avLst/>
          </a:prstGeom>
          <a:noFill/>
        </p:spPr>
        <p:txBody>
          <a:bodyPr wrap="square" lIns="13716" rIns="13716" tIns="13716" bIns="13716" anchor="t">
            <a:spAutoFit/>
          </a:bodyPr>
          <a:lstStyle/>
          <a:p>
            <a:pPr>
              <a:spcAft>
                <a:spcPts val="0"/>
              </a:spcAft>
              <a:defRPr sz="900" b="0">
                <a:solidFill>
                  <a:srgbClr val="5B6F63"/>
                </a:solidFill>
                <a:latin typeface="Aptos"/>
              </a:defRPr>
            </a:pPr>
            <a:r>
              <a:t>SkillCraft  •  database systems prototype</a:t>
            </a:r>
          </a:p>
        </p:txBody>
      </p:sp>
      <p:sp>
        <p:nvSpPr>
          <p:cNvPr id="9" name="TextBox 8"/>
          <p:cNvSpPr txBox="1"/>
          <p:nvPr/>
        </p:nvSpPr>
        <p:spPr>
          <a:xfrm>
            <a:off x="11082528" y="6547104"/>
            <a:ext cx="548640" cy="182880"/>
          </a:xfrm>
          <a:prstGeom prst="rect">
            <a:avLst/>
          </a:prstGeom>
          <a:noFill/>
        </p:spPr>
        <p:txBody>
          <a:bodyPr wrap="square" lIns="13716" rIns="13716" tIns="13716" bIns="13716" anchor="t">
            <a:spAutoFit/>
          </a:bodyPr>
          <a:lstStyle/>
          <a:p>
            <a:pPr algn="r">
              <a:spcAft>
                <a:spcPts val="0"/>
              </a:spcAft>
              <a:defRPr sz="900" b="0">
                <a:solidFill>
                  <a:srgbClr val="5B6F63"/>
                </a:solidFill>
                <a:latin typeface="Aptos"/>
              </a:defRPr>
            </a:pPr>
            <a:r>
              <a:t>16</a:t>
            </a:r>
          </a:p>
        </p:txBody>
      </p:sp>
      <p:sp>
        <p:nvSpPr>
          <p:cNvPr id="10" name="Rounded Rectangle 9"/>
          <p:cNvSpPr/>
          <p:nvPr/>
        </p:nvSpPr>
        <p:spPr>
          <a:xfrm>
            <a:off x="704088" y="1901952"/>
            <a:ext cx="5175504" cy="2926080"/>
          </a:xfrm>
          <a:prstGeom prst="roundRect">
            <a:avLst>
              <a:gd name="adj" fmla="val 6000"/>
            </a:avLst>
          </a:prstGeom>
          <a:solidFill>
            <a:srgbClr val="E4ECE4"/>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4088" y="1901952"/>
            <a:ext cx="64008" cy="2926080"/>
          </a:xfrm>
          <a:prstGeom prst="rect">
            <a:avLst/>
          </a:prstGeom>
          <a:solidFill>
            <a:srgbClr val="42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2075688"/>
            <a:ext cx="4718304" cy="365760"/>
          </a:xfrm>
          <a:prstGeom prst="rect">
            <a:avLst/>
          </a:prstGeom>
          <a:noFill/>
        </p:spPr>
        <p:txBody>
          <a:bodyPr wrap="square" lIns="13716" rIns="13716" tIns="13716" bIns="13716" anchor="t">
            <a:spAutoFit/>
          </a:bodyPr>
          <a:lstStyle/>
          <a:p>
            <a:pPr>
              <a:spcAft>
                <a:spcPts val="0"/>
              </a:spcAft>
              <a:defRPr sz="1900" b="1">
                <a:solidFill>
                  <a:srgbClr val="20362E"/>
                </a:solidFill>
                <a:latin typeface="Aptos"/>
              </a:defRPr>
            </a:pPr>
            <a:r>
              <a:t>WHAT WORKS NOW</a:t>
            </a:r>
          </a:p>
        </p:txBody>
      </p:sp>
      <p:sp>
        <p:nvSpPr>
          <p:cNvPr id="13" name="TextBox 12"/>
          <p:cNvSpPr txBox="1"/>
          <p:nvPr/>
        </p:nvSpPr>
        <p:spPr>
          <a:xfrm>
            <a:off x="941832" y="2542032"/>
            <a:ext cx="4700016" cy="2194560"/>
          </a:xfrm>
          <a:prstGeom prst="rect">
            <a:avLst/>
          </a:prstGeom>
          <a:noFill/>
        </p:spPr>
        <p:txBody>
          <a:bodyPr wrap="square" lIns="13716" rIns="13716" tIns="13716" bIns="13716" anchor="t">
            <a:spAutoFit/>
          </a:bodyPr>
          <a:lstStyle/>
          <a:p>
            <a:pPr>
              <a:spcAft>
                <a:spcPts val="0"/>
              </a:spcAft>
              <a:defRPr sz="1700" b="0">
                <a:solidFill>
                  <a:srgbClr val="5B6F63"/>
                </a:solidFill>
                <a:latin typeface="Aptos"/>
              </a:defRPr>
            </a:pPr>
            <a:r>
              <a:t>Connected two-role website</a:t>
            </a:r>
          </a:p>
          <a:p>
            <a:pPr>
              <a:spcAft>
                <a:spcPts val="0"/>
              </a:spcAft>
              <a:defRPr sz="1700" b="0">
                <a:solidFill>
                  <a:srgbClr val="5B6F63"/>
                </a:solidFill>
                <a:latin typeface="Aptos"/>
              </a:defRPr>
            </a:pPr>
            <a:r>
              <a:t>Seven-table relational model</a:t>
            </a:r>
          </a:p>
          <a:p>
            <a:pPr>
              <a:spcAft>
                <a:spcPts val="0"/>
              </a:spcAft>
              <a:defRPr sz="1700" b="0">
                <a:solidFill>
                  <a:srgbClr val="5B6F63"/>
                </a:solidFill>
                <a:latin typeface="Aptos"/>
              </a:defRPr>
            </a:pPr>
            <a:r>
              <a:t>One-winner bid acceptance</a:t>
            </a:r>
          </a:p>
          <a:p>
            <a:pPr>
              <a:spcAft>
                <a:spcPts val="0"/>
              </a:spcAft>
              <a:defRPr sz="1700" b="0">
                <a:solidFill>
                  <a:srgbClr val="5B6F63"/>
                </a:solidFill>
                <a:latin typeface="Aptos"/>
              </a:defRPr>
            </a:pPr>
            <a:r>
              <a:t>Two-party payment record</a:t>
            </a:r>
          </a:p>
          <a:p>
            <a:pPr>
              <a:spcAft>
                <a:spcPts val="0"/>
              </a:spcAft>
              <a:defRPr sz="1700" b="0">
                <a:solidFill>
                  <a:srgbClr val="5B6F63"/>
                </a:solidFill>
                <a:latin typeface="Aptos"/>
              </a:defRPr>
            </a:pPr>
            <a:r>
              <a:t>Contract-linked trust and audit history</a:t>
            </a:r>
          </a:p>
        </p:txBody>
      </p:sp>
      <p:sp>
        <p:nvSpPr>
          <p:cNvPr id="14" name="Rounded Rectangle 13"/>
          <p:cNvSpPr/>
          <p:nvPr/>
        </p:nvSpPr>
        <p:spPr>
          <a:xfrm>
            <a:off x="6291072" y="1901952"/>
            <a:ext cx="5175504" cy="2926080"/>
          </a:xfrm>
          <a:prstGeom prst="roundRect">
            <a:avLst>
              <a:gd name="adj" fmla="val 6000"/>
            </a:avLst>
          </a:prstGeom>
          <a:solidFill>
            <a:srgbClr val="EEE7DE"/>
          </a:solidFill>
          <a:ln w="12700">
            <a:solidFill>
              <a:srgbClr val="CD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91072" y="1901952"/>
            <a:ext cx="64008" cy="2926080"/>
          </a:xfrm>
          <a:prstGeom prst="rect">
            <a:avLst/>
          </a:prstGeom>
          <a:solidFill>
            <a:srgbClr val="A86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2075688"/>
            <a:ext cx="4718304" cy="365760"/>
          </a:xfrm>
          <a:prstGeom prst="rect">
            <a:avLst/>
          </a:prstGeom>
          <a:noFill/>
        </p:spPr>
        <p:txBody>
          <a:bodyPr wrap="square" lIns="13716" rIns="13716" tIns="13716" bIns="13716" anchor="t">
            <a:spAutoFit/>
          </a:bodyPr>
          <a:lstStyle/>
          <a:p>
            <a:pPr>
              <a:spcAft>
                <a:spcPts val="0"/>
              </a:spcAft>
              <a:defRPr sz="1900" b="1">
                <a:solidFill>
                  <a:srgbClr val="20362E"/>
                </a:solidFill>
                <a:latin typeface="Aptos"/>
              </a:defRPr>
            </a:pPr>
            <a:r>
              <a:t>WHAT WE WILL MEASURE NEXT</a:t>
            </a:r>
          </a:p>
        </p:txBody>
      </p:sp>
      <p:sp>
        <p:nvSpPr>
          <p:cNvPr id="17" name="TextBox 16"/>
          <p:cNvSpPr txBox="1"/>
          <p:nvPr/>
        </p:nvSpPr>
        <p:spPr>
          <a:xfrm>
            <a:off x="6528816" y="2542032"/>
            <a:ext cx="4700016" cy="2194560"/>
          </a:xfrm>
          <a:prstGeom prst="rect">
            <a:avLst/>
          </a:prstGeom>
          <a:noFill/>
        </p:spPr>
        <p:txBody>
          <a:bodyPr wrap="square" lIns="13716" rIns="13716" tIns="13716" bIns="13716" anchor="t">
            <a:spAutoFit/>
          </a:bodyPr>
          <a:lstStyle/>
          <a:p>
            <a:pPr>
              <a:spcAft>
                <a:spcPts val="0"/>
              </a:spcAft>
              <a:defRPr sz="1700" b="0">
                <a:solidFill>
                  <a:srgbClr val="5B6F63"/>
                </a:solidFill>
                <a:latin typeface="Aptos"/>
              </a:defRPr>
            </a:pPr>
            <a:r>
              <a:t>Native PostgreSQL query latency</a:t>
            </a:r>
          </a:p>
          <a:p>
            <a:pPr>
              <a:spcAft>
                <a:spcPts val="0"/>
              </a:spcAft>
              <a:defRPr sz="1700" b="0">
                <a:solidFill>
                  <a:srgbClr val="5B6F63"/>
                </a:solidFill>
                <a:latin typeface="Aptos"/>
              </a:defRPr>
            </a:pPr>
            <a:r>
              <a:t>Matching quality on labeled jobs</a:t>
            </a:r>
          </a:p>
          <a:p>
            <a:pPr>
              <a:spcAft>
                <a:spcPts val="0"/>
              </a:spcAft>
              <a:defRPr sz="1700" b="0">
                <a:solidFill>
                  <a:srgbClr val="5B6F63"/>
                </a:solidFill>
                <a:latin typeface="Aptos"/>
              </a:defRPr>
            </a:pPr>
            <a:r>
              <a:t>Security checks on a native server</a:t>
            </a:r>
          </a:p>
          <a:p>
            <a:pPr>
              <a:spcAft>
                <a:spcPts val="0"/>
              </a:spcAft>
              <a:defRPr sz="1700" b="0">
                <a:solidFill>
                  <a:srgbClr val="5B6F63"/>
                </a:solidFill>
                <a:latin typeface="Aptos"/>
              </a:defRPr>
            </a:pPr>
            <a:r>
              <a:t>User outcomes in a real pilot</a:t>
            </a:r>
          </a:p>
        </p:txBody>
      </p:sp>
      <p:sp>
        <p:nvSpPr>
          <p:cNvPr id="18" name="TextBox 17"/>
          <p:cNvSpPr txBox="1"/>
          <p:nvPr/>
        </p:nvSpPr>
        <p:spPr>
          <a:xfrm>
            <a:off x="1078992" y="5312664"/>
            <a:ext cx="10058400" cy="530352"/>
          </a:xfrm>
          <a:prstGeom prst="rect">
            <a:avLst/>
          </a:prstGeom>
          <a:noFill/>
        </p:spPr>
        <p:txBody>
          <a:bodyPr wrap="square" lIns="13716" rIns="13716" tIns="13716" bIns="13716" anchor="t">
            <a:spAutoFit/>
          </a:bodyPr>
          <a:lstStyle/>
          <a:p>
            <a:pPr algn="ctr">
              <a:spcAft>
                <a:spcPts val="0"/>
              </a:spcAft>
              <a:defRPr sz="1700" b="0">
                <a:solidFill>
                  <a:srgbClr val="5B6F63"/>
                </a:solidFill>
                <a:latin typeface="Aptos"/>
              </a:defRPr>
            </a:pPr>
            <a:r>
              <a:t>SkillCraft records payment claims. It does not send money, verify banks, or prove an earnings uplift.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